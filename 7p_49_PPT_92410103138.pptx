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4A1B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A1B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A1B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4A1B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19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1622" y="261874"/>
            <a:ext cx="6907530" cy="4890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4A1B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1797" y="1175448"/>
            <a:ext cx="10952480" cy="2543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41895" y="1428748"/>
            <a:ext cx="9718675" cy="3636010"/>
            <a:chOff x="1041895" y="1428748"/>
            <a:chExt cx="9718675" cy="36360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1895" y="1428748"/>
              <a:ext cx="9718260" cy="36357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32911" y="3371241"/>
              <a:ext cx="2653480" cy="3131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1000" y="2939576"/>
              <a:ext cx="3314566" cy="38606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866663" y="3645051"/>
            <a:ext cx="2436495" cy="2762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50" spc="-85">
                <a:latin typeface="Arial MT"/>
                <a:cs typeface="Arial MT"/>
              </a:rPr>
              <a:t>Marwadi</a:t>
            </a:r>
            <a:r>
              <a:rPr dirty="0" sz="1650" spc="-25">
                <a:latin typeface="Arial MT"/>
                <a:cs typeface="Arial MT"/>
              </a:rPr>
              <a:t> </a:t>
            </a:r>
            <a:r>
              <a:rPr dirty="0" sz="1650" spc="-90">
                <a:solidFill>
                  <a:srgbClr val="111111"/>
                </a:solidFill>
                <a:latin typeface="Arial MT"/>
                <a:cs typeface="Arial MT"/>
              </a:rPr>
              <a:t>Chandarana</a:t>
            </a:r>
            <a:r>
              <a:rPr dirty="0" sz="1650" spc="8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dirty="0" sz="1650" spc="-65">
                <a:solidFill>
                  <a:srgbClr val="161616"/>
                </a:solidFill>
                <a:latin typeface="Arial MT"/>
                <a:cs typeface="Arial MT"/>
              </a:rPr>
              <a:t>Group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84346" y="1038605"/>
            <a:ext cx="4733290" cy="1003935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ts val="3835"/>
              </a:lnSpc>
              <a:spcBef>
                <a:spcPts val="130"/>
              </a:spcBef>
            </a:pPr>
            <a:r>
              <a:rPr dirty="0" sz="3200" spc="-135">
                <a:latin typeface="Trebuchet MS"/>
                <a:cs typeface="Trebuchet MS"/>
              </a:rPr>
              <a:t>Major</a:t>
            </a:r>
            <a:r>
              <a:rPr dirty="0" sz="3200" spc="-180">
                <a:latin typeface="Trebuchet MS"/>
                <a:cs typeface="Trebuchet MS"/>
              </a:rPr>
              <a:t> Project</a:t>
            </a:r>
            <a:r>
              <a:rPr dirty="0" sz="3200" spc="-180" i="1">
                <a:latin typeface="Cambria"/>
                <a:cs typeface="Cambria"/>
              </a:rPr>
              <a:t>-</a:t>
            </a:r>
            <a:r>
              <a:rPr dirty="0" sz="3200" spc="-130">
                <a:latin typeface="Trebuchet MS"/>
                <a:cs typeface="Trebuchet MS"/>
              </a:rPr>
              <a:t>I</a:t>
            </a:r>
            <a:r>
              <a:rPr dirty="0" sz="3200" spc="-145">
                <a:latin typeface="Trebuchet MS"/>
                <a:cs typeface="Trebuchet MS"/>
              </a:rPr>
              <a:t> </a:t>
            </a:r>
            <a:r>
              <a:rPr dirty="0" sz="3200" spc="-434">
                <a:latin typeface="Trebuchet MS"/>
                <a:cs typeface="Trebuchet MS"/>
              </a:rPr>
              <a:t>(01</a:t>
            </a:r>
            <a:r>
              <a:rPr dirty="0" sz="3200" spc="-229">
                <a:latin typeface="Trebuchet MS"/>
                <a:cs typeface="Trebuchet MS"/>
              </a:rPr>
              <a:t> </a:t>
            </a:r>
            <a:r>
              <a:rPr dirty="0" sz="3200" spc="-80">
                <a:latin typeface="Trebuchet MS"/>
                <a:cs typeface="Trebuchet MS"/>
              </a:rPr>
              <a:t>CE</a:t>
            </a:r>
            <a:r>
              <a:rPr dirty="0" sz="3200" spc="-80" b="0">
                <a:latin typeface="Trebuchet MS"/>
                <a:cs typeface="Trebuchet MS"/>
              </a:rPr>
              <a:t>0</a:t>
            </a:r>
            <a:r>
              <a:rPr dirty="0" sz="3200" spc="-80" b="0">
                <a:latin typeface="Cambria"/>
                <a:cs typeface="Cambria"/>
              </a:rPr>
              <a:t>7</a:t>
            </a:r>
            <a:r>
              <a:rPr dirty="0" sz="3200" spc="-80" b="0">
                <a:latin typeface="Trebuchet MS"/>
                <a:cs typeface="Trebuchet MS"/>
              </a:rPr>
              <a:t>1</a:t>
            </a:r>
            <a:r>
              <a:rPr dirty="0" sz="3200" spc="-305" b="0">
                <a:latin typeface="Trebuchet MS"/>
                <a:cs typeface="Trebuchet MS"/>
              </a:rPr>
              <a:t> </a:t>
            </a:r>
            <a:r>
              <a:rPr dirty="0" sz="3200" spc="-25" b="0">
                <a:latin typeface="Cambria"/>
                <a:cs typeface="Cambria"/>
              </a:rPr>
              <a:t>6</a:t>
            </a:r>
            <a:r>
              <a:rPr dirty="0" sz="3200" spc="-25">
                <a:latin typeface="Trebuchet MS"/>
                <a:cs typeface="Trebuchet MS"/>
              </a:rPr>
              <a:t>)</a:t>
            </a:r>
            <a:endParaRPr sz="3200">
              <a:latin typeface="Trebuchet MS"/>
              <a:cs typeface="Trebuchet MS"/>
            </a:endParaRPr>
          </a:p>
          <a:p>
            <a:pPr algn="ctr" marL="13335">
              <a:lnSpc>
                <a:spcPts val="3835"/>
              </a:lnSpc>
            </a:pPr>
            <a:r>
              <a:rPr dirty="0" sz="3200" spc="-114">
                <a:latin typeface="Trebuchet MS"/>
                <a:cs typeface="Trebuchet MS"/>
              </a:rPr>
              <a:t>Semester</a:t>
            </a:r>
            <a:r>
              <a:rPr dirty="0" sz="3200" spc="-120">
                <a:latin typeface="Trebuchet MS"/>
                <a:cs typeface="Trebuchet MS"/>
              </a:rPr>
              <a:t> </a:t>
            </a:r>
            <a:r>
              <a:rPr dirty="0" sz="3200" spc="20" i="1">
                <a:latin typeface="Cambria"/>
                <a:cs typeface="Cambria"/>
              </a:rPr>
              <a:t>7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1579" y="2049716"/>
            <a:ext cx="7480300" cy="447484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ctr" marL="2891790" marR="3030855" indent="-61594">
              <a:lnSpc>
                <a:spcPct val="101899"/>
              </a:lnSpc>
              <a:spcBef>
                <a:spcPts val="75"/>
              </a:spcBef>
            </a:pPr>
            <a:r>
              <a:rPr dirty="0" sz="2150">
                <a:solidFill>
                  <a:srgbClr val="04A1B8"/>
                </a:solidFill>
                <a:latin typeface="Trebuchet MS"/>
                <a:cs typeface="Trebuchet MS"/>
              </a:rPr>
              <a:t>Review</a:t>
            </a:r>
            <a:r>
              <a:rPr dirty="0" sz="2150" spc="10">
                <a:solidFill>
                  <a:srgbClr val="04A1B8"/>
                </a:solidFill>
                <a:latin typeface="Trebuchet MS"/>
                <a:cs typeface="Trebuchet MS"/>
              </a:rPr>
              <a:t> </a:t>
            </a:r>
            <a:r>
              <a:rPr dirty="0" sz="2150" spc="25">
                <a:solidFill>
                  <a:srgbClr val="04A1B8"/>
                </a:solidFill>
                <a:latin typeface="Trebuchet MS"/>
                <a:cs typeface="Trebuchet MS"/>
              </a:rPr>
              <a:t>3 </a:t>
            </a:r>
            <a:r>
              <a:rPr dirty="0" sz="2150" spc="-75">
                <a:solidFill>
                  <a:srgbClr val="04A1B8"/>
                </a:solidFill>
                <a:latin typeface="Trebuchet MS"/>
                <a:cs typeface="Trebuchet MS"/>
              </a:rPr>
              <a:t>(</a:t>
            </a:r>
            <a:r>
              <a:rPr dirty="0" sz="2150" spc="-75">
                <a:solidFill>
                  <a:srgbClr val="FF0000"/>
                </a:solidFill>
                <a:latin typeface="Trebuchet MS"/>
                <a:cs typeface="Trebuchet MS"/>
              </a:rPr>
              <a:t>22/0</a:t>
            </a:r>
            <a:r>
              <a:rPr dirty="0" sz="2150" spc="-75">
                <a:solidFill>
                  <a:srgbClr val="FF0000"/>
                </a:solidFill>
                <a:latin typeface="Cambria"/>
                <a:cs typeface="Cambria"/>
              </a:rPr>
              <a:t>8</a:t>
            </a:r>
            <a:r>
              <a:rPr dirty="0" sz="2150" spc="-75">
                <a:solidFill>
                  <a:srgbClr val="FF0000"/>
                </a:solidFill>
                <a:latin typeface="Trebuchet MS"/>
                <a:cs typeface="Trebuchet MS"/>
              </a:rPr>
              <a:t>/202</a:t>
            </a:r>
            <a:r>
              <a:rPr dirty="0" sz="2150" spc="-75">
                <a:solidFill>
                  <a:srgbClr val="FF0000"/>
                </a:solidFill>
                <a:latin typeface="Cambria"/>
                <a:cs typeface="Cambria"/>
              </a:rPr>
              <a:t>6</a:t>
            </a:r>
            <a:r>
              <a:rPr dirty="0" sz="2150" spc="-75">
                <a:solidFill>
                  <a:srgbClr val="04A1B8"/>
                </a:solidFill>
                <a:latin typeface="Trebuchet MS"/>
                <a:cs typeface="Trebuchet MS"/>
              </a:rPr>
              <a:t>)</a:t>
            </a:r>
            <a:endParaRPr sz="21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dirty="0" sz="2150">
                <a:solidFill>
                  <a:srgbClr val="FF0000"/>
                </a:solidFill>
                <a:latin typeface="Arial MT"/>
                <a:cs typeface="Arial MT"/>
              </a:rPr>
              <a:t>GENERATIVE</a:t>
            </a:r>
            <a:r>
              <a:rPr dirty="0" sz="2150" spc="19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FF0000"/>
                </a:solidFill>
                <a:latin typeface="Arial MT"/>
                <a:cs typeface="Arial MT"/>
              </a:rPr>
              <a:t>AI</a:t>
            </a:r>
            <a:r>
              <a:rPr dirty="0" sz="2150" spc="1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FF0000"/>
                </a:solidFill>
                <a:latin typeface="Arial MT"/>
                <a:cs typeface="Arial MT"/>
              </a:rPr>
              <a:t>CHATBOT</a:t>
            </a:r>
            <a:r>
              <a:rPr dirty="0" sz="2150" spc="1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FF0000"/>
                </a:solidFill>
                <a:latin typeface="Arial MT"/>
                <a:cs typeface="Arial MT"/>
              </a:rPr>
              <a:t>FOR</a:t>
            </a:r>
            <a:r>
              <a:rPr dirty="0" sz="2150" spc="1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FF0000"/>
                </a:solidFill>
                <a:latin typeface="Arial MT"/>
                <a:cs typeface="Arial MT"/>
              </a:rPr>
              <a:t>STUDENT</a:t>
            </a:r>
            <a:r>
              <a:rPr dirty="0" sz="2150" spc="16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FF0000"/>
                </a:solidFill>
                <a:latin typeface="Arial MT"/>
                <a:cs typeface="Arial MT"/>
              </a:rPr>
              <a:t>ASSISTANCE</a:t>
            </a:r>
            <a:endParaRPr sz="2150">
              <a:latin typeface="Arial MT"/>
              <a:cs typeface="Arial MT"/>
            </a:endParaRPr>
          </a:p>
          <a:p>
            <a:pPr algn="ctr" marL="12065">
              <a:lnSpc>
                <a:spcPct val="100000"/>
              </a:lnSpc>
              <a:spcBef>
                <a:spcPts val="120"/>
              </a:spcBef>
            </a:pPr>
            <a:r>
              <a:rPr dirty="0" sz="2150">
                <a:solidFill>
                  <a:srgbClr val="04A1B8"/>
                </a:solidFill>
                <a:latin typeface="Arial MT"/>
                <a:cs typeface="Arial MT"/>
              </a:rPr>
              <a:t>Team</a:t>
            </a:r>
            <a:r>
              <a:rPr dirty="0" sz="2150" spc="70">
                <a:solidFill>
                  <a:srgbClr val="04A1B8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04A1B8"/>
                </a:solidFill>
                <a:latin typeface="Arial MT"/>
                <a:cs typeface="Arial MT"/>
              </a:rPr>
              <a:t>ID:</a:t>
            </a:r>
            <a:r>
              <a:rPr dirty="0" sz="2150" spc="95">
                <a:solidFill>
                  <a:srgbClr val="04A1B8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FF0000"/>
                </a:solidFill>
                <a:latin typeface="Arial MT"/>
                <a:cs typeface="Arial MT"/>
              </a:rPr>
              <a:t>7P_049</a:t>
            </a:r>
            <a:endParaRPr sz="2150">
              <a:latin typeface="Arial MT"/>
              <a:cs typeface="Arial MT"/>
            </a:endParaRPr>
          </a:p>
          <a:p>
            <a:pPr algn="just" marL="715010" marR="768350">
              <a:lnSpc>
                <a:spcPct val="100899"/>
              </a:lnSpc>
              <a:spcBef>
                <a:spcPts val="915"/>
              </a:spcBef>
            </a:pPr>
            <a:r>
              <a:rPr dirty="0" sz="1800">
                <a:latin typeface="Arial MT"/>
                <a:cs typeface="Arial MT"/>
              </a:rPr>
              <a:t>Team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Member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1: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HARSH</a:t>
            </a:r>
            <a:r>
              <a:rPr dirty="0" sz="18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SHUKLA</a:t>
            </a:r>
            <a:r>
              <a:rPr dirty="0" sz="1800" spc="-7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(92410103138)</a:t>
            </a:r>
            <a:r>
              <a:rPr dirty="0" sz="180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(EC5) </a:t>
            </a:r>
            <a:r>
              <a:rPr dirty="0" sz="1800">
                <a:latin typeface="Arial MT"/>
                <a:cs typeface="Arial MT"/>
              </a:rPr>
              <a:t>Team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Member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2: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SHYAM</a:t>
            </a:r>
            <a:r>
              <a:rPr dirty="0" sz="180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PATEL</a:t>
            </a:r>
            <a:r>
              <a:rPr dirty="0" sz="1800" spc="445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(92410103117) 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(EC5) </a:t>
            </a:r>
            <a:r>
              <a:rPr dirty="0" sz="1800">
                <a:latin typeface="Arial MT"/>
                <a:cs typeface="Arial MT"/>
              </a:rPr>
              <a:t>Team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Member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3: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PARAM</a:t>
            </a:r>
            <a:r>
              <a:rPr dirty="0" sz="18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SANGHVI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(92410103130)</a:t>
            </a:r>
            <a:r>
              <a:rPr dirty="0" sz="1800" spc="-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(EC5)</a:t>
            </a:r>
            <a:endParaRPr sz="1800">
              <a:latin typeface="Arial MT"/>
              <a:cs typeface="Arial MT"/>
            </a:endParaRPr>
          </a:p>
          <a:p>
            <a:pPr algn="ctr" marR="278765">
              <a:lnSpc>
                <a:spcPct val="100000"/>
              </a:lnSpc>
              <a:spcBef>
                <a:spcPts val="1000"/>
              </a:spcBef>
            </a:pPr>
            <a:r>
              <a:rPr dirty="0" sz="1800">
                <a:solidFill>
                  <a:srgbClr val="585858"/>
                </a:solidFill>
                <a:latin typeface="Trebuchet MS"/>
                <a:cs typeface="Trebuchet MS"/>
              </a:rPr>
              <a:t>Guided</a:t>
            </a:r>
            <a:r>
              <a:rPr dirty="0" sz="1800" spc="-7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858"/>
                </a:solidFill>
                <a:latin typeface="Trebuchet MS"/>
                <a:cs typeface="Trebuchet MS"/>
              </a:rPr>
              <a:t>By</a:t>
            </a:r>
            <a:endParaRPr sz="1800">
              <a:latin typeface="Trebuchet MS"/>
              <a:cs typeface="Trebuchet MS"/>
            </a:endParaRPr>
          </a:p>
          <a:p>
            <a:pPr marL="2355215" marR="2651125" indent="514350">
              <a:lnSpc>
                <a:spcPct val="100899"/>
              </a:lnSpc>
              <a:spcBef>
                <a:spcPts val="1110"/>
              </a:spcBef>
            </a:pPr>
            <a:r>
              <a:rPr dirty="0" sz="1800">
                <a:latin typeface="Arial MT"/>
                <a:cs typeface="Arial MT"/>
              </a:rPr>
              <a:t>Internal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Guide</a:t>
            </a:r>
            <a:r>
              <a:rPr dirty="0" sz="1800" spc="500"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Prof.</a:t>
            </a:r>
            <a:r>
              <a:rPr dirty="0" sz="1800" spc="-3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NITIN</a:t>
            </a:r>
            <a:r>
              <a:rPr dirty="0" sz="1800" spc="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VARSHNEY</a:t>
            </a:r>
            <a:endParaRPr sz="1800">
              <a:latin typeface="Arial MT"/>
              <a:cs typeface="Arial MT"/>
            </a:endParaRPr>
          </a:p>
          <a:p>
            <a:pPr marL="1516380" marR="949325" indent="-90805">
              <a:lnSpc>
                <a:spcPts val="3979"/>
              </a:lnSpc>
            </a:pPr>
            <a:r>
              <a:rPr dirty="0" sz="2400" spc="-40">
                <a:solidFill>
                  <a:srgbClr val="04A1B8"/>
                </a:solidFill>
                <a:latin typeface="Trebuchet MS"/>
                <a:cs typeface="Trebuchet MS"/>
              </a:rPr>
              <a:t>Department</a:t>
            </a:r>
            <a:r>
              <a:rPr dirty="0" sz="2400" spc="-105">
                <a:solidFill>
                  <a:srgbClr val="04A1B8"/>
                </a:solidFill>
                <a:latin typeface="Trebuchet MS"/>
                <a:cs typeface="Trebuchet MS"/>
              </a:rPr>
              <a:t> </a:t>
            </a:r>
            <a:r>
              <a:rPr dirty="0" sz="2400" spc="-85">
                <a:solidFill>
                  <a:srgbClr val="04A1B8"/>
                </a:solidFill>
                <a:latin typeface="Trebuchet MS"/>
                <a:cs typeface="Trebuchet MS"/>
              </a:rPr>
              <a:t>of</a:t>
            </a:r>
            <a:r>
              <a:rPr dirty="0" sz="2400" spc="-125">
                <a:solidFill>
                  <a:srgbClr val="04A1B8"/>
                </a:solidFill>
                <a:latin typeface="Trebuchet MS"/>
                <a:cs typeface="Trebuchet MS"/>
              </a:rPr>
              <a:t> </a:t>
            </a:r>
            <a:r>
              <a:rPr dirty="0" sz="2400" spc="-20">
                <a:solidFill>
                  <a:srgbClr val="04A1B8"/>
                </a:solidFill>
                <a:latin typeface="Trebuchet MS"/>
                <a:cs typeface="Trebuchet MS"/>
              </a:rPr>
              <a:t>Computer</a:t>
            </a:r>
            <a:r>
              <a:rPr dirty="0" sz="2400" spc="-105">
                <a:solidFill>
                  <a:srgbClr val="04A1B8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04A1B8"/>
                </a:solidFill>
                <a:latin typeface="Trebuchet MS"/>
                <a:cs typeface="Trebuchet MS"/>
              </a:rPr>
              <a:t>Engineering, </a:t>
            </a:r>
            <a:r>
              <a:rPr dirty="0" sz="2400" spc="-60">
                <a:solidFill>
                  <a:srgbClr val="04A1B8"/>
                </a:solidFill>
                <a:latin typeface="Trebuchet MS"/>
                <a:cs typeface="Trebuchet MS"/>
              </a:rPr>
              <a:t>Faculty</a:t>
            </a:r>
            <a:r>
              <a:rPr dirty="0" sz="2400" spc="-85">
                <a:solidFill>
                  <a:srgbClr val="04A1B8"/>
                </a:solidFill>
                <a:latin typeface="Trebuchet MS"/>
                <a:cs typeface="Trebuchet MS"/>
              </a:rPr>
              <a:t> of</a:t>
            </a:r>
            <a:r>
              <a:rPr dirty="0" sz="2400" spc="-105">
                <a:solidFill>
                  <a:srgbClr val="04A1B8"/>
                </a:solidFill>
                <a:latin typeface="Trebuchet MS"/>
                <a:cs typeface="Trebuchet MS"/>
              </a:rPr>
              <a:t> </a:t>
            </a:r>
            <a:r>
              <a:rPr dirty="0" sz="2400">
                <a:solidFill>
                  <a:srgbClr val="04A1B8"/>
                </a:solidFill>
                <a:latin typeface="Trebuchet MS"/>
                <a:cs typeface="Trebuchet MS"/>
              </a:rPr>
              <a:t>Engineering</a:t>
            </a:r>
            <a:r>
              <a:rPr dirty="0" sz="2400" spc="-135">
                <a:solidFill>
                  <a:srgbClr val="04A1B8"/>
                </a:solidFill>
                <a:latin typeface="Trebuchet MS"/>
                <a:cs typeface="Trebuchet MS"/>
              </a:rPr>
              <a:t> </a:t>
            </a:r>
            <a:r>
              <a:rPr dirty="0" sz="2400" spc="-170">
                <a:solidFill>
                  <a:srgbClr val="04A1B8"/>
                </a:solidFill>
                <a:latin typeface="Trebuchet MS"/>
                <a:cs typeface="Trebuchet MS"/>
              </a:rPr>
              <a:t>&amp;</a:t>
            </a:r>
            <a:r>
              <a:rPr dirty="0" sz="2400" spc="-65">
                <a:solidFill>
                  <a:srgbClr val="04A1B8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04A1B8"/>
                </a:solidFill>
                <a:latin typeface="Trebuchet MS"/>
                <a:cs typeface="Trebuchet MS"/>
              </a:rPr>
              <a:t>Technology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4669" y="282955"/>
            <a:ext cx="1115695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0">
                <a:latin typeface="Trebuchet MS"/>
                <a:cs typeface="Trebuchet MS"/>
              </a:rPr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3409" y="1339178"/>
            <a:ext cx="11021060" cy="33350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6350">
              <a:lnSpc>
                <a:spcPct val="108000"/>
              </a:lnSpc>
              <a:spcBef>
                <a:spcPts val="110"/>
              </a:spcBef>
            </a:pP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Imagine</a:t>
            </a:r>
            <a:r>
              <a:rPr dirty="0" sz="1550" spc="32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</a:t>
            </a:r>
            <a:r>
              <a:rPr dirty="0" sz="1550" spc="32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student</a:t>
            </a:r>
            <a:r>
              <a:rPr dirty="0" sz="1550" spc="33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trying</a:t>
            </a:r>
            <a:r>
              <a:rPr dirty="0" sz="1550" spc="34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to</a:t>
            </a:r>
            <a:r>
              <a:rPr dirty="0" sz="1550" spc="32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find</a:t>
            </a:r>
            <a:r>
              <a:rPr dirty="0" sz="1550" spc="28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out</a:t>
            </a:r>
            <a:r>
              <a:rPr dirty="0" sz="1550" spc="29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the</a:t>
            </a:r>
            <a:r>
              <a:rPr dirty="0" sz="1550" spc="30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exact</a:t>
            </a:r>
            <a:r>
              <a:rPr dirty="0" sz="1550" spc="33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hostel</a:t>
            </a:r>
            <a:r>
              <a:rPr dirty="0" sz="1550" spc="33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fee</a:t>
            </a:r>
            <a:r>
              <a:rPr dirty="0" sz="1550" spc="30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for</a:t>
            </a:r>
            <a:r>
              <a:rPr dirty="0" sz="1550" spc="31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</a:t>
            </a:r>
            <a:r>
              <a:rPr dirty="0" sz="1550" spc="31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specific</a:t>
            </a:r>
            <a:r>
              <a:rPr dirty="0" sz="1550" spc="36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university.</a:t>
            </a:r>
            <a:r>
              <a:rPr dirty="0" sz="1550" spc="31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Right</a:t>
            </a:r>
            <a:r>
              <a:rPr dirty="0" sz="1550" spc="30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now,</a:t>
            </a:r>
            <a:r>
              <a:rPr dirty="0" sz="1550" spc="32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they</a:t>
            </a:r>
            <a:r>
              <a:rPr dirty="0" sz="1550" spc="30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have</a:t>
            </a:r>
            <a:r>
              <a:rPr dirty="0" sz="1550" spc="35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to</a:t>
            </a:r>
            <a:r>
              <a:rPr dirty="0" sz="1550" spc="32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dig</a:t>
            </a:r>
            <a:r>
              <a:rPr dirty="0" sz="1550" spc="28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F2733"/>
                </a:solidFill>
                <a:latin typeface="Arial MT"/>
                <a:cs typeface="Arial MT"/>
              </a:rPr>
              <a:t>through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confusing</a:t>
            </a:r>
            <a:r>
              <a:rPr dirty="0" sz="1550" spc="254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websites</a:t>
            </a:r>
            <a:r>
              <a:rPr dirty="0" sz="1550" spc="24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or</a:t>
            </a:r>
            <a:r>
              <a:rPr dirty="0" sz="1550" spc="21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wait</a:t>
            </a:r>
            <a:r>
              <a:rPr dirty="0" sz="1550" spc="21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days</a:t>
            </a:r>
            <a:r>
              <a:rPr dirty="0" sz="1550" spc="24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for</a:t>
            </a:r>
            <a:r>
              <a:rPr dirty="0" sz="1550" spc="21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an</a:t>
            </a:r>
            <a:r>
              <a:rPr dirty="0" sz="1550" spc="21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email</a:t>
            </a:r>
            <a:r>
              <a:rPr dirty="0" sz="1550" spc="22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reply.</a:t>
            </a:r>
            <a:r>
              <a:rPr dirty="0" sz="1550" spc="22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We</a:t>
            </a:r>
            <a:r>
              <a:rPr dirty="0" sz="1550" spc="23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wanted</a:t>
            </a:r>
            <a:r>
              <a:rPr dirty="0" sz="1550" spc="20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to</a:t>
            </a:r>
            <a:r>
              <a:rPr dirty="0" sz="1550" spc="22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fix</a:t>
            </a:r>
            <a:r>
              <a:rPr dirty="0" sz="1550" spc="20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this</a:t>
            </a:r>
            <a:r>
              <a:rPr dirty="0" sz="1550" spc="18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using</a:t>
            </a:r>
            <a:r>
              <a:rPr dirty="0" sz="1550" spc="229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AI.</a:t>
            </a:r>
            <a:r>
              <a:rPr dirty="0" sz="1550" spc="22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But</a:t>
            </a:r>
            <a:r>
              <a:rPr dirty="0" sz="1550" spc="22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there’s</a:t>
            </a:r>
            <a:r>
              <a:rPr dirty="0" sz="1550" spc="26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</a:t>
            </a:r>
            <a:r>
              <a:rPr dirty="0" sz="1550" spc="22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big</a:t>
            </a:r>
            <a:r>
              <a:rPr dirty="0" sz="1550" spc="18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problem:</a:t>
            </a:r>
            <a:r>
              <a:rPr dirty="0" sz="1550" spc="22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if</a:t>
            </a:r>
            <a:r>
              <a:rPr dirty="0" sz="1550" spc="19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you</a:t>
            </a:r>
            <a:r>
              <a:rPr dirty="0" sz="1550" spc="18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1F2733"/>
                </a:solidFill>
                <a:latin typeface="Arial MT"/>
                <a:cs typeface="Arial MT"/>
              </a:rPr>
              <a:t>ask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normal</a:t>
            </a:r>
            <a:r>
              <a:rPr dirty="0" sz="1550" spc="65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AI</a:t>
            </a:r>
            <a:r>
              <a:rPr dirty="0" sz="1550" spc="10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(like</a:t>
            </a:r>
            <a:r>
              <a:rPr dirty="0" sz="1550" spc="10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ChatGPT)</a:t>
            </a:r>
            <a:r>
              <a:rPr dirty="0" sz="1550" spc="85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</a:t>
            </a:r>
            <a:r>
              <a:rPr dirty="0" sz="1550" spc="9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highly</a:t>
            </a:r>
            <a:r>
              <a:rPr dirty="0" sz="1550" spc="9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specific</a:t>
            </a:r>
            <a:r>
              <a:rPr dirty="0" sz="1550" spc="11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question,</a:t>
            </a:r>
            <a:r>
              <a:rPr dirty="0" sz="1550" spc="7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it</a:t>
            </a:r>
            <a:r>
              <a:rPr dirty="0" sz="1550" spc="8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often</a:t>
            </a:r>
            <a:r>
              <a:rPr dirty="0" sz="1550" spc="85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panics</a:t>
            </a:r>
            <a:r>
              <a:rPr dirty="0" sz="1550" spc="85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and</a:t>
            </a:r>
            <a:r>
              <a:rPr dirty="0" sz="1550" spc="8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invents</a:t>
            </a:r>
            <a:r>
              <a:rPr dirty="0" sz="1550" spc="9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fake</a:t>
            </a:r>
            <a:r>
              <a:rPr dirty="0" sz="1550" spc="7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numbers—something</a:t>
            </a:r>
            <a:r>
              <a:rPr dirty="0" sz="1550" spc="8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 spc="-10">
                <a:solidFill>
                  <a:srgbClr val="1F2733"/>
                </a:solidFill>
                <a:latin typeface="Arial MT"/>
                <a:cs typeface="Arial MT"/>
              </a:rPr>
              <a:t>called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'Hallucination.'</a:t>
            </a:r>
            <a:r>
              <a:rPr dirty="0" sz="1550" spc="36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Our</a:t>
            </a:r>
            <a:r>
              <a:rPr dirty="0" sz="1550" spc="35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project</a:t>
            </a:r>
            <a:r>
              <a:rPr dirty="0" sz="1550" spc="39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solves</a:t>
            </a:r>
            <a:r>
              <a:rPr dirty="0" sz="1550" spc="35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this</a:t>
            </a:r>
            <a:r>
              <a:rPr dirty="0" sz="1550" spc="34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by</a:t>
            </a:r>
            <a:r>
              <a:rPr dirty="0" sz="1550" spc="37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connecting</a:t>
            </a:r>
            <a:r>
              <a:rPr dirty="0" sz="1550" spc="41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</a:t>
            </a:r>
            <a:r>
              <a:rPr dirty="0" sz="1550" spc="38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smart</a:t>
            </a:r>
            <a:r>
              <a:rPr dirty="0" sz="1550" spc="34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AI</a:t>
            </a:r>
            <a:r>
              <a:rPr dirty="0" sz="1550" spc="39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to</a:t>
            </a:r>
            <a:r>
              <a:rPr dirty="0" sz="1550" spc="38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</a:t>
            </a:r>
            <a:r>
              <a:rPr dirty="0" sz="1550" spc="38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strict,</a:t>
            </a:r>
            <a:r>
              <a:rPr dirty="0" sz="1550" spc="40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verified</a:t>
            </a:r>
            <a:r>
              <a:rPr dirty="0" sz="1550" spc="36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database</a:t>
            </a:r>
            <a:r>
              <a:rPr dirty="0" sz="1550" spc="36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of</a:t>
            </a:r>
            <a:r>
              <a:rPr dirty="0" sz="1550" spc="37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300</a:t>
            </a:r>
            <a:r>
              <a:rPr dirty="0" sz="1550" spc="35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universities.</a:t>
            </a:r>
            <a:r>
              <a:rPr dirty="0" sz="1550" spc="38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1F2733"/>
                </a:solidFill>
                <a:latin typeface="Arial MT"/>
                <a:cs typeface="Arial MT"/>
              </a:rPr>
              <a:t>The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result?</a:t>
            </a:r>
            <a:r>
              <a:rPr dirty="0" sz="1550" spc="114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</a:t>
            </a:r>
            <a:r>
              <a:rPr dirty="0" sz="1550" spc="9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chatbot</a:t>
            </a:r>
            <a:r>
              <a:rPr dirty="0" sz="1550" spc="9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that</a:t>
            </a:r>
            <a:r>
              <a:rPr dirty="0" sz="1550" spc="7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speaks</a:t>
            </a:r>
            <a:r>
              <a:rPr dirty="0" sz="1550" spc="9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naturally</a:t>
            </a:r>
            <a:r>
              <a:rPr dirty="0" sz="1550" spc="9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like</a:t>
            </a:r>
            <a:r>
              <a:rPr dirty="0" sz="1550" spc="10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</a:t>
            </a:r>
            <a:r>
              <a:rPr dirty="0" sz="1550" spc="9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human,</a:t>
            </a:r>
            <a:r>
              <a:rPr dirty="0" sz="1550" spc="114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but</a:t>
            </a:r>
            <a:r>
              <a:rPr dirty="0" sz="1550" spc="7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only</a:t>
            </a:r>
            <a:r>
              <a:rPr dirty="0" sz="1550" spc="12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gives</a:t>
            </a:r>
            <a:r>
              <a:rPr dirty="0" sz="1550" spc="10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100%</a:t>
            </a:r>
            <a:r>
              <a:rPr dirty="0" sz="1550" spc="11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factual</a:t>
            </a:r>
            <a:r>
              <a:rPr dirty="0" sz="1550" spc="9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F2733"/>
                </a:solidFill>
                <a:latin typeface="Arial MT"/>
                <a:cs typeface="Arial MT"/>
              </a:rPr>
              <a:t>answers.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550">
              <a:latin typeface="Arial MT"/>
              <a:cs typeface="Arial MT"/>
            </a:endParaRPr>
          </a:p>
          <a:p>
            <a:pPr algn="just" marL="12700" marR="5080">
              <a:lnSpc>
                <a:spcPct val="107700"/>
              </a:lnSpc>
            </a:pP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This</a:t>
            </a:r>
            <a:r>
              <a:rPr dirty="0" sz="1550" spc="19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project</a:t>
            </a:r>
            <a:r>
              <a:rPr dirty="0" sz="1550" spc="23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proposes</a:t>
            </a:r>
            <a:r>
              <a:rPr dirty="0" sz="1550" spc="25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</a:t>
            </a:r>
            <a:r>
              <a:rPr dirty="0" sz="1550" spc="23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Generative</a:t>
            </a:r>
            <a:r>
              <a:rPr dirty="0" sz="1550" spc="204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AI</a:t>
            </a:r>
            <a:r>
              <a:rPr dirty="0" sz="1550" spc="25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Chatbot</a:t>
            </a:r>
            <a:r>
              <a:rPr dirty="0" sz="1550" spc="22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for</a:t>
            </a:r>
            <a:r>
              <a:rPr dirty="0" sz="1550" spc="22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Student</a:t>
            </a:r>
            <a:r>
              <a:rPr dirty="0" sz="1550" spc="19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Support</a:t>
            </a:r>
            <a:r>
              <a:rPr dirty="0" sz="1550" spc="204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that</a:t>
            </a:r>
            <a:r>
              <a:rPr dirty="0" sz="1550" spc="21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combines</a:t>
            </a:r>
            <a:r>
              <a:rPr dirty="0" sz="1550" spc="20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LLMs,</a:t>
            </a:r>
            <a:r>
              <a:rPr dirty="0" sz="1550" spc="25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NLP,</a:t>
            </a:r>
            <a:r>
              <a:rPr dirty="0" sz="1550" spc="26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and</a:t>
            </a:r>
            <a:r>
              <a:rPr dirty="0" sz="1550" spc="204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Retrieval-</a:t>
            </a:r>
            <a:r>
              <a:rPr dirty="0" sz="1550" spc="-10">
                <a:solidFill>
                  <a:srgbClr val="1F2733"/>
                </a:solidFill>
                <a:latin typeface="Arial MT"/>
                <a:cs typeface="Arial MT"/>
              </a:rPr>
              <a:t>Augmented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Generation</a:t>
            </a:r>
            <a:r>
              <a:rPr dirty="0" sz="1550" spc="409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(RAG)</a:t>
            </a:r>
            <a:r>
              <a:rPr dirty="0" sz="1550" spc="459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to</a:t>
            </a:r>
            <a:r>
              <a:rPr dirty="0" sz="1550" spc="43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deliver</a:t>
            </a:r>
            <a:r>
              <a:rPr dirty="0" sz="1550" spc="39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accurate,</a:t>
            </a:r>
            <a:r>
              <a:rPr dirty="0" sz="1550" spc="43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context-aware,</a:t>
            </a:r>
            <a:r>
              <a:rPr dirty="0" sz="1550" spc="434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institution-specific</a:t>
            </a:r>
            <a:r>
              <a:rPr dirty="0" sz="1550" spc="459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responses.</a:t>
            </a:r>
            <a:r>
              <a:rPr dirty="0" sz="1550" spc="43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Before</a:t>
            </a:r>
            <a:r>
              <a:rPr dirty="0" sz="1550" spc="44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generating</a:t>
            </a:r>
            <a:r>
              <a:rPr dirty="0" sz="1550" spc="40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an</a:t>
            </a:r>
            <a:r>
              <a:rPr dirty="0" sz="1550" spc="409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answer,</a:t>
            </a:r>
            <a:r>
              <a:rPr dirty="0" sz="1550" spc="40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1F2733"/>
                </a:solidFill>
                <a:latin typeface="Arial MT"/>
                <a:cs typeface="Arial MT"/>
              </a:rPr>
              <a:t>the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system</a:t>
            </a:r>
            <a:r>
              <a:rPr dirty="0" sz="1550" spc="45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retrieves</a:t>
            </a:r>
            <a:r>
              <a:rPr dirty="0" sz="1550" spc="47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relevant</a:t>
            </a:r>
            <a:r>
              <a:rPr dirty="0" sz="1550" spc="44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passages</a:t>
            </a:r>
            <a:r>
              <a:rPr dirty="0" sz="1550" spc="409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from</a:t>
            </a:r>
            <a:r>
              <a:rPr dirty="0" sz="1550" spc="45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</a:t>
            </a:r>
            <a:r>
              <a:rPr dirty="0" sz="1550" spc="44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curated</a:t>
            </a:r>
            <a:r>
              <a:rPr dirty="0" sz="1550" spc="48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university</a:t>
            </a:r>
            <a:r>
              <a:rPr dirty="0" sz="1550" spc="484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knowledge</a:t>
            </a:r>
            <a:r>
              <a:rPr dirty="0" sz="1550" spc="42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base,</a:t>
            </a:r>
            <a:r>
              <a:rPr dirty="0" sz="1550" spc="46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which</a:t>
            </a:r>
            <a:r>
              <a:rPr dirty="0" sz="1550" spc="39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improves</a:t>
            </a:r>
            <a:r>
              <a:rPr dirty="0" sz="1550" spc="44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factual</a:t>
            </a:r>
            <a:r>
              <a:rPr dirty="0" sz="1550" spc="45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accuracy</a:t>
            </a:r>
            <a:r>
              <a:rPr dirty="0" sz="1550" spc="43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1F2733"/>
                </a:solidFill>
                <a:latin typeface="Arial MT"/>
                <a:cs typeface="Arial MT"/>
              </a:rPr>
              <a:t>and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materially</a:t>
            </a:r>
            <a:r>
              <a:rPr dirty="0" sz="1550" spc="9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reduces</a:t>
            </a:r>
            <a:r>
              <a:rPr dirty="0" sz="1550" spc="15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hallucination</a:t>
            </a:r>
            <a:r>
              <a:rPr dirty="0" sz="1550" spc="17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compared</a:t>
            </a:r>
            <a:r>
              <a:rPr dirty="0" sz="1550" spc="14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with</a:t>
            </a:r>
            <a:r>
              <a:rPr dirty="0" sz="1550" spc="13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an</a:t>
            </a:r>
            <a:r>
              <a:rPr dirty="0" sz="1550" spc="11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ungrounded</a:t>
            </a:r>
            <a:r>
              <a:rPr dirty="0" sz="1550" spc="12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LLM.</a:t>
            </a:r>
            <a:r>
              <a:rPr dirty="0" sz="1550" spc="13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The</a:t>
            </a:r>
            <a:r>
              <a:rPr dirty="0" sz="1550" spc="114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chatbot</a:t>
            </a:r>
            <a:r>
              <a:rPr dirty="0" sz="1550" spc="13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is</a:t>
            </a:r>
            <a:r>
              <a:rPr dirty="0" sz="1550" spc="10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designed</a:t>
            </a:r>
            <a:r>
              <a:rPr dirty="0" sz="1550" spc="9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to</a:t>
            </a:r>
            <a:r>
              <a:rPr dirty="0" sz="1550" spc="13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provide</a:t>
            </a:r>
            <a:r>
              <a:rPr dirty="0" sz="1550" spc="13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continuous</a:t>
            </a:r>
            <a:r>
              <a:rPr dirty="0" sz="1550" spc="17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F2733"/>
                </a:solidFill>
                <a:latin typeface="Arial MT"/>
                <a:cs typeface="Arial MT"/>
              </a:rPr>
              <a:t>(24</a:t>
            </a:r>
            <a:r>
              <a:rPr dirty="0" sz="1550" spc="-10">
                <a:solidFill>
                  <a:srgbClr val="1F2733"/>
                </a:solidFill>
                <a:latin typeface="Calibri"/>
                <a:cs typeface="Calibri"/>
              </a:rPr>
              <a:t>×</a:t>
            </a:r>
            <a:r>
              <a:rPr dirty="0" sz="1550" spc="-10">
                <a:solidFill>
                  <a:srgbClr val="1F2733"/>
                </a:solidFill>
                <a:latin typeface="Arial MT"/>
                <a:cs typeface="Arial MT"/>
              </a:rPr>
              <a:t>7)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support</a:t>
            </a:r>
            <a:r>
              <a:rPr dirty="0" sz="1550" spc="26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through</a:t>
            </a:r>
            <a:r>
              <a:rPr dirty="0" sz="1550" spc="21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</a:t>
            </a:r>
            <a:r>
              <a:rPr dirty="0" sz="1550" spc="25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conversational</a:t>
            </a:r>
            <a:r>
              <a:rPr dirty="0" sz="1550" spc="22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interface</a:t>
            </a:r>
            <a:r>
              <a:rPr dirty="0" sz="1550" spc="24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capable</a:t>
            </a:r>
            <a:r>
              <a:rPr dirty="0" sz="1550" spc="22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of</a:t>
            </a:r>
            <a:r>
              <a:rPr dirty="0" sz="1550" spc="229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resolving</a:t>
            </a:r>
            <a:r>
              <a:rPr dirty="0" sz="1550" spc="28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both</a:t>
            </a:r>
            <a:r>
              <a:rPr dirty="0" sz="1550" spc="22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academic</a:t>
            </a:r>
            <a:r>
              <a:rPr dirty="0" sz="1550" spc="19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and</a:t>
            </a:r>
            <a:r>
              <a:rPr dirty="0" sz="1550" spc="21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administrative</a:t>
            </a:r>
            <a:r>
              <a:rPr dirty="0" sz="1550" spc="204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queries.</a:t>
            </a:r>
            <a:r>
              <a:rPr dirty="0" sz="1550" spc="24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The</a:t>
            </a:r>
            <a:r>
              <a:rPr dirty="0" sz="1550" spc="22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F2733"/>
                </a:solidFill>
                <a:latin typeface="Arial MT"/>
                <a:cs typeface="Arial MT"/>
              </a:rPr>
              <a:t>expected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outcome</a:t>
            </a:r>
            <a:r>
              <a:rPr dirty="0" sz="1550" spc="105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is</a:t>
            </a:r>
            <a:r>
              <a:rPr dirty="0" sz="1550" spc="95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improved</a:t>
            </a:r>
            <a:r>
              <a:rPr dirty="0" sz="1550" spc="105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student</a:t>
            </a:r>
            <a:r>
              <a:rPr dirty="0" sz="1550" spc="11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engagement,</a:t>
            </a:r>
            <a:r>
              <a:rPr dirty="0" sz="1550" spc="9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reduced</a:t>
            </a:r>
            <a:r>
              <a:rPr dirty="0" sz="1550" spc="11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administrative</a:t>
            </a:r>
            <a:r>
              <a:rPr dirty="0" sz="1550" spc="105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workload,</a:t>
            </a:r>
            <a:r>
              <a:rPr dirty="0" sz="1550" spc="12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better</a:t>
            </a:r>
            <a:r>
              <a:rPr dirty="0" sz="1550" spc="85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information</a:t>
            </a:r>
            <a:r>
              <a:rPr dirty="0" sz="1550" spc="85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accessibility,</a:t>
            </a:r>
            <a:r>
              <a:rPr dirty="0" sz="1550" spc="95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and</a:t>
            </a:r>
            <a:r>
              <a:rPr dirty="0" sz="1550" spc="90">
                <a:solidFill>
                  <a:srgbClr val="1F2733"/>
                </a:solidFill>
                <a:latin typeface="Arial MT"/>
                <a:cs typeface="Arial MT"/>
              </a:rPr>
              <a:t>  </a:t>
            </a:r>
            <a:r>
              <a:rPr dirty="0" sz="1550" spc="-50">
                <a:solidFill>
                  <a:srgbClr val="1F2733"/>
                </a:solidFill>
                <a:latin typeface="Arial MT"/>
                <a:cs typeface="Arial MT"/>
              </a:rPr>
              <a:t>a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concrete</a:t>
            </a:r>
            <a:r>
              <a:rPr dirty="0" sz="1550" spc="16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contribution</a:t>
            </a:r>
            <a:r>
              <a:rPr dirty="0" sz="1550" spc="20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to</a:t>
            </a:r>
            <a:r>
              <a:rPr dirty="0" sz="1550" spc="15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the</a:t>
            </a:r>
            <a:r>
              <a:rPr dirty="0" sz="1550" spc="13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digital</a:t>
            </a:r>
            <a:r>
              <a:rPr dirty="0" sz="1550" spc="13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transformation</a:t>
            </a:r>
            <a:r>
              <a:rPr dirty="0" sz="1550" spc="14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of</a:t>
            </a:r>
            <a:r>
              <a:rPr dirty="0" sz="1550" spc="140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higher-education</a:t>
            </a:r>
            <a:r>
              <a:rPr dirty="0" sz="1550" spc="114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F2733"/>
                </a:solidFill>
                <a:latin typeface="Arial MT"/>
                <a:cs typeface="Arial MT"/>
              </a:rPr>
              <a:t>support</a:t>
            </a:r>
            <a:r>
              <a:rPr dirty="0" sz="1550" spc="165">
                <a:solidFill>
                  <a:srgbClr val="1F2733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F2733"/>
                </a:solidFill>
                <a:latin typeface="Arial MT"/>
                <a:cs typeface="Arial MT"/>
              </a:rPr>
              <a:t>services.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65430">
              <a:lnSpc>
                <a:spcPct val="100000"/>
              </a:lnSpc>
              <a:spcBef>
                <a:spcPts val="105"/>
              </a:spcBef>
            </a:pPr>
            <a:r>
              <a:rPr dirty="0" spc="-125">
                <a:latin typeface="Trebuchet MS"/>
                <a:cs typeface="Trebuchet MS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315" y="1176020"/>
            <a:ext cx="11204575" cy="39281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just" marL="12700" marR="5080">
              <a:lnSpc>
                <a:spcPct val="103600"/>
              </a:lnSpc>
              <a:spcBef>
                <a:spcPts val="55"/>
              </a:spcBef>
            </a:pPr>
            <a:r>
              <a:rPr dirty="0" sz="1550">
                <a:latin typeface="Arial MT"/>
                <a:cs typeface="Arial MT"/>
              </a:rPr>
              <a:t>Artificial</a:t>
            </a:r>
            <a:r>
              <a:rPr dirty="0" sz="1550" spc="1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Intelligence</a:t>
            </a:r>
            <a:r>
              <a:rPr dirty="0" sz="1550" spc="1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is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changing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education,</a:t>
            </a:r>
            <a:r>
              <a:rPr dirty="0" sz="1550" spc="229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but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it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has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1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fatal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flaw:</a:t>
            </a:r>
            <a:r>
              <a:rPr dirty="0" sz="1550" spc="1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it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lacks</a:t>
            </a:r>
            <a:r>
              <a:rPr dirty="0" sz="1550" spc="1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institutional</a:t>
            </a:r>
            <a:r>
              <a:rPr dirty="0" sz="1550" spc="1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knowledge.</a:t>
            </a:r>
            <a:r>
              <a:rPr dirty="0" sz="1550" spc="1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1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chatbot</a:t>
            </a:r>
            <a:r>
              <a:rPr dirty="0" sz="1550" spc="1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that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confidently </a:t>
            </a:r>
            <a:r>
              <a:rPr dirty="0" sz="1550">
                <a:latin typeface="Arial MT"/>
                <a:cs typeface="Arial MT"/>
              </a:rPr>
              <a:t>tells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student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wrong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exam</a:t>
            </a:r>
            <a:r>
              <a:rPr dirty="0" sz="1550" spc="1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date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is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worse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than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having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no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chatbot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at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all.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We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realized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that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to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make</a:t>
            </a:r>
            <a:r>
              <a:rPr dirty="0" sz="1550" spc="1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AI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useful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for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university </a:t>
            </a:r>
            <a:r>
              <a:rPr dirty="0" sz="1550">
                <a:latin typeface="Arial MT"/>
                <a:cs typeface="Arial MT"/>
              </a:rPr>
              <a:t>administration,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we</a:t>
            </a:r>
            <a:r>
              <a:rPr dirty="0" sz="1550" spc="1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had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to</a:t>
            </a:r>
            <a:r>
              <a:rPr dirty="0" sz="1550" spc="1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stop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it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from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guessing.</a:t>
            </a:r>
            <a:r>
              <a:rPr dirty="0" sz="1550" spc="1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Our</a:t>
            </a:r>
            <a:r>
              <a:rPr dirty="0" sz="1550" spc="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approach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forces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AI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to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'read'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official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university</a:t>
            </a:r>
            <a:r>
              <a:rPr dirty="0" sz="1550" spc="1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document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first,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 spc="-25">
                <a:latin typeface="Arial MT"/>
                <a:cs typeface="Arial MT"/>
              </a:rPr>
              <a:t>and </a:t>
            </a:r>
            <a:r>
              <a:rPr dirty="0" sz="1550">
                <a:latin typeface="Arial MT"/>
                <a:cs typeface="Arial MT"/>
              </a:rPr>
              <a:t>base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its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entire</a:t>
            </a:r>
            <a:r>
              <a:rPr dirty="0" sz="1550" spc="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answer</a:t>
            </a:r>
            <a:r>
              <a:rPr dirty="0" sz="1550" spc="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only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on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that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document.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550">
              <a:latin typeface="Arial MT"/>
              <a:cs typeface="Arial MT"/>
            </a:endParaRPr>
          </a:p>
          <a:p>
            <a:pPr algn="just" marL="12700" marR="10160">
              <a:lnSpc>
                <a:spcPct val="103000"/>
              </a:lnSpc>
              <a:spcBef>
                <a:spcPts val="5"/>
              </a:spcBef>
            </a:pPr>
            <a:r>
              <a:rPr dirty="0" sz="1550">
                <a:latin typeface="Arial MT"/>
                <a:cs typeface="Arial MT"/>
              </a:rPr>
              <a:t>This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idea</a:t>
            </a:r>
            <a:r>
              <a:rPr dirty="0" sz="1550" spc="2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is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1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foundation</a:t>
            </a:r>
            <a:r>
              <a:rPr dirty="0" sz="1550" spc="1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of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our</a:t>
            </a:r>
            <a:r>
              <a:rPr dirty="0" sz="1550" spc="1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system.</a:t>
            </a:r>
            <a:r>
              <a:rPr dirty="0" sz="1550" spc="1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Instead</a:t>
            </a:r>
            <a:r>
              <a:rPr dirty="0" sz="1550" spc="1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of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letting</a:t>
            </a:r>
            <a:r>
              <a:rPr dirty="0" sz="1550" spc="1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AI</a:t>
            </a:r>
            <a:r>
              <a:rPr dirty="0" sz="1550" spc="1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answer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from</a:t>
            </a:r>
            <a:r>
              <a:rPr dirty="0" sz="1550" spc="2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what</a:t>
            </a:r>
            <a:r>
              <a:rPr dirty="0" sz="1550" spc="1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it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already</a:t>
            </a:r>
            <a:r>
              <a:rPr dirty="0" sz="1550" spc="2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"knows"</a:t>
            </a:r>
            <a:r>
              <a:rPr dirty="0" sz="1550" spc="1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—</a:t>
            </a:r>
            <a:r>
              <a:rPr dirty="0" sz="1550" spc="2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which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is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general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doesn't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reflect</a:t>
            </a:r>
            <a:r>
              <a:rPr dirty="0" sz="1550" spc="1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1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specific</a:t>
            </a:r>
            <a:r>
              <a:rPr dirty="0" sz="1550" spc="20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university's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rules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—</a:t>
            </a:r>
            <a:r>
              <a:rPr dirty="0" sz="1550" spc="1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system</a:t>
            </a:r>
            <a:r>
              <a:rPr dirty="0" sz="1550" spc="1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first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pulls</a:t>
            </a:r>
            <a:r>
              <a:rPr dirty="0" sz="1550" spc="1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relevant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information</a:t>
            </a:r>
            <a:r>
              <a:rPr dirty="0" sz="1550" spc="1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from</a:t>
            </a:r>
            <a:r>
              <a:rPr dirty="0" sz="1550" spc="1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real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university</a:t>
            </a:r>
            <a:r>
              <a:rPr dirty="0" sz="1550" spc="204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sources, </a:t>
            </a:r>
            <a:r>
              <a:rPr dirty="0" sz="1550">
                <a:latin typeface="Arial MT"/>
                <a:cs typeface="Arial MT"/>
              </a:rPr>
              <a:t>like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circulars,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academic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calendars,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policy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documents.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Only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then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does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it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generate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answer.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this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way,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AI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isn't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 spc="-20">
                <a:latin typeface="Arial MT"/>
                <a:cs typeface="Arial MT"/>
              </a:rPr>
              <a:t>just </a:t>
            </a:r>
            <a:r>
              <a:rPr dirty="0" sz="1550">
                <a:latin typeface="Arial MT"/>
                <a:cs typeface="Arial MT"/>
              </a:rPr>
              <a:t>guessing</a:t>
            </a:r>
            <a:r>
              <a:rPr dirty="0" sz="1550" spc="2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based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on</a:t>
            </a:r>
            <a:r>
              <a:rPr dirty="0" sz="1550" spc="20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memory;</a:t>
            </a:r>
            <a:r>
              <a:rPr dirty="0" sz="1550" spc="2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it's</a:t>
            </a:r>
            <a:r>
              <a:rPr dirty="0" sz="1550" spc="1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reading</a:t>
            </a:r>
            <a:r>
              <a:rPr dirty="0" sz="1550" spc="229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2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actual</a:t>
            </a:r>
            <a:r>
              <a:rPr dirty="0" sz="1550" spc="2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document</a:t>
            </a:r>
            <a:r>
              <a:rPr dirty="0" sz="1550" spc="20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1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answering</a:t>
            </a:r>
            <a:r>
              <a:rPr dirty="0" sz="1550" spc="2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from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that.</a:t>
            </a:r>
            <a:r>
              <a:rPr dirty="0" sz="1550" spc="2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This</a:t>
            </a:r>
            <a:r>
              <a:rPr dirty="0" sz="1550" spc="1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is</a:t>
            </a:r>
            <a:r>
              <a:rPr dirty="0" sz="1550" spc="1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what</a:t>
            </a:r>
            <a:r>
              <a:rPr dirty="0" sz="1550" spc="229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makes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it</a:t>
            </a:r>
            <a:r>
              <a:rPr dirty="0" sz="1550" spc="1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both</a:t>
            </a:r>
            <a:r>
              <a:rPr dirty="0" sz="1550" spc="2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easy</a:t>
            </a:r>
            <a:r>
              <a:rPr dirty="0" sz="1550" spc="254">
                <a:latin typeface="Arial MT"/>
                <a:cs typeface="Arial MT"/>
              </a:rPr>
              <a:t> </a:t>
            </a:r>
            <a:r>
              <a:rPr dirty="0" sz="1550" spc="-25">
                <a:latin typeface="Arial MT"/>
                <a:cs typeface="Arial MT"/>
              </a:rPr>
              <a:t>to </a:t>
            </a:r>
            <a:r>
              <a:rPr dirty="0" sz="1550">
                <a:latin typeface="Arial MT"/>
                <a:cs typeface="Arial MT"/>
              </a:rPr>
              <a:t>talk</a:t>
            </a:r>
            <a:r>
              <a:rPr dirty="0" sz="1550" spc="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to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reliable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enough</a:t>
            </a:r>
            <a:r>
              <a:rPr dirty="0" sz="1550" spc="1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to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trust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for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important,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fact-based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questions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like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deadlines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exam</a:t>
            </a:r>
            <a:r>
              <a:rPr dirty="0" sz="1550" spc="16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rules.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550">
              <a:latin typeface="Arial MT"/>
              <a:cs typeface="Arial MT"/>
            </a:endParaRPr>
          </a:p>
          <a:p>
            <a:pPr algn="just" marL="12700" marR="8255">
              <a:lnSpc>
                <a:spcPct val="104000"/>
              </a:lnSpc>
            </a:pPr>
            <a:r>
              <a:rPr dirty="0" sz="1550">
                <a:latin typeface="Arial MT"/>
                <a:cs typeface="Arial MT"/>
              </a:rPr>
              <a:t>This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project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addresses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that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liability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directly.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proposed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Generative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AI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Chatbot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for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Student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Support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integrates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LLM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 spc="-20">
                <a:latin typeface="Arial MT"/>
                <a:cs typeface="Arial MT"/>
              </a:rPr>
              <a:t>with </a:t>
            </a:r>
            <a:r>
              <a:rPr dirty="0" sz="1550">
                <a:latin typeface="Arial MT"/>
                <a:cs typeface="Arial MT"/>
              </a:rPr>
              <a:t>Retrieval-Augmented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Generation</a:t>
            </a:r>
            <a:r>
              <a:rPr dirty="0" sz="1550" spc="4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3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an</a:t>
            </a:r>
            <a:r>
              <a:rPr dirty="0" sz="1550" spc="4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institutional</a:t>
            </a:r>
            <a:r>
              <a:rPr dirty="0" sz="1550" spc="5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knowledge</a:t>
            </a:r>
            <a:r>
              <a:rPr dirty="0" sz="1550" spc="5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base,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so</a:t>
            </a:r>
            <a:r>
              <a:rPr dirty="0" sz="1550" spc="3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that</a:t>
            </a:r>
            <a:r>
              <a:rPr dirty="0" sz="1550" spc="4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every</a:t>
            </a:r>
            <a:r>
              <a:rPr dirty="0" sz="1550" spc="4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answer</a:t>
            </a:r>
            <a:r>
              <a:rPr dirty="0" sz="1550" spc="4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is</a:t>
            </a:r>
            <a:r>
              <a:rPr dirty="0" sz="1550" spc="4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grounded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in</a:t>
            </a:r>
            <a:r>
              <a:rPr dirty="0" sz="1550" spc="49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retrieved, </a:t>
            </a:r>
            <a:r>
              <a:rPr dirty="0" sz="1550">
                <a:latin typeface="Arial MT"/>
                <a:cs typeface="Arial MT"/>
              </a:rPr>
              <a:t>verifiable</a:t>
            </a:r>
            <a:r>
              <a:rPr dirty="0" sz="1550" spc="48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university</a:t>
            </a:r>
            <a:r>
              <a:rPr dirty="0" sz="1550" spc="459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documents</a:t>
            </a:r>
            <a:r>
              <a:rPr dirty="0" sz="1550" spc="43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rather</a:t>
            </a:r>
            <a:r>
              <a:rPr dirty="0" sz="1550" spc="4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than</a:t>
            </a:r>
            <a:r>
              <a:rPr dirty="0" sz="1550" spc="4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43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model's</a:t>
            </a:r>
            <a:r>
              <a:rPr dirty="0" sz="1550" spc="4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unconstrained</a:t>
            </a:r>
            <a:r>
              <a:rPr dirty="0" sz="1550" spc="4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internal</a:t>
            </a:r>
            <a:r>
              <a:rPr dirty="0" sz="1550" spc="4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knowledge.</a:t>
            </a:r>
            <a:r>
              <a:rPr dirty="0" sz="1550" spc="4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By</a:t>
            </a:r>
            <a:r>
              <a:rPr dirty="0" sz="1550" spc="4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combining</a:t>
            </a:r>
            <a:r>
              <a:rPr dirty="0" sz="1550" spc="47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conversational </a:t>
            </a:r>
            <a:r>
              <a:rPr dirty="0" sz="1550">
                <a:latin typeface="Arial MT"/>
                <a:cs typeface="Arial MT"/>
              </a:rPr>
              <a:t>fluency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with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retrieval-based</a:t>
            </a:r>
            <a:r>
              <a:rPr dirty="0" sz="1550" spc="1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factual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grounding,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system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aims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to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give</a:t>
            </a:r>
            <a:r>
              <a:rPr dirty="0" sz="1550" spc="1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students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single,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always-on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entry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point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for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academic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administrative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support</a:t>
            </a:r>
            <a:r>
              <a:rPr dirty="0" sz="1550" spc="1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while</a:t>
            </a:r>
            <a:r>
              <a:rPr dirty="0" sz="1550" spc="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reducing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repetitive-query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load</a:t>
            </a:r>
            <a:r>
              <a:rPr dirty="0" sz="1550" spc="1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on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university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staff.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65430">
              <a:lnSpc>
                <a:spcPct val="100000"/>
              </a:lnSpc>
              <a:spcBef>
                <a:spcPts val="105"/>
              </a:spcBef>
            </a:pPr>
            <a:r>
              <a:rPr dirty="0" spc="-65">
                <a:latin typeface="Trebuchet MS"/>
                <a:cs typeface="Trebuchet MS"/>
              </a:rPr>
              <a:t>System</a:t>
            </a:r>
            <a:r>
              <a:rPr dirty="0" spc="-150">
                <a:latin typeface="Trebuchet MS"/>
                <a:cs typeface="Trebuchet MS"/>
              </a:rPr>
              <a:t> </a:t>
            </a:r>
            <a:r>
              <a:rPr dirty="0" spc="-50">
                <a:latin typeface="Trebuchet MS"/>
                <a:cs typeface="Trebuchet MS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527" y="1273492"/>
            <a:ext cx="239141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SzPct val="109677"/>
              <a:buFont typeface="Arial MT"/>
              <a:buChar char="•"/>
              <a:tabLst>
                <a:tab pos="298450" algn="l"/>
                <a:tab pos="1336040" algn="l"/>
              </a:tabLst>
            </a:pPr>
            <a:r>
              <a:rPr dirty="0" sz="1550" spc="-10" b="1">
                <a:latin typeface="Arial"/>
                <a:cs typeface="Arial"/>
              </a:rPr>
              <a:t>Problem:</a:t>
            </a:r>
            <a:r>
              <a:rPr dirty="0" sz="1550" b="1">
                <a:latin typeface="Arial"/>
                <a:cs typeface="Arial"/>
              </a:rPr>
              <a:t>	</a:t>
            </a:r>
            <a:r>
              <a:rPr dirty="0" sz="1550" spc="-10">
                <a:latin typeface="Arial MT"/>
                <a:cs typeface="Arial MT"/>
              </a:rPr>
              <a:t>Universities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38526" y="1273492"/>
            <a:ext cx="85026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22960" algn="l"/>
                <a:tab pos="1091565" algn="l"/>
                <a:tab pos="1630045" algn="l"/>
                <a:tab pos="2440305" algn="l"/>
                <a:tab pos="2766060" algn="l"/>
                <a:tab pos="3746500" algn="l"/>
                <a:tab pos="4569460" algn="l"/>
                <a:tab pos="5480050" algn="l"/>
                <a:tab pos="6235065" algn="l"/>
                <a:tab pos="7463155" algn="l"/>
              </a:tabLst>
            </a:pPr>
            <a:r>
              <a:rPr dirty="0" sz="1550" spc="-10">
                <a:latin typeface="Arial MT"/>
                <a:cs typeface="Arial MT"/>
              </a:rPr>
              <a:t>receive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50">
                <a:latin typeface="Arial MT"/>
                <a:cs typeface="Arial MT"/>
              </a:rPr>
              <a:t>a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20">
                <a:latin typeface="Arial MT"/>
                <a:cs typeface="Arial MT"/>
              </a:rPr>
              <a:t>high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volume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25">
                <a:latin typeface="Arial MT"/>
                <a:cs typeface="Arial MT"/>
              </a:rPr>
              <a:t>of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repetitive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student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inquiries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across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admissions,</a:t>
            </a:r>
            <a:r>
              <a:rPr dirty="0" sz="1550">
                <a:latin typeface="Arial MT"/>
                <a:cs typeface="Arial MT"/>
              </a:rPr>
              <a:t>	</a:t>
            </a:r>
            <a:r>
              <a:rPr dirty="0" sz="1550" spc="-10">
                <a:latin typeface="Arial MT"/>
                <a:cs typeface="Arial MT"/>
              </a:rPr>
              <a:t>academics,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527" y="1511998"/>
            <a:ext cx="11035030" cy="53975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845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Arial MT"/>
                <a:cs typeface="Arial MT"/>
              </a:rPr>
              <a:t>examinations,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fees,</a:t>
            </a:r>
            <a:r>
              <a:rPr dirty="0" sz="1550" spc="20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placements,</a:t>
            </a:r>
            <a:r>
              <a:rPr dirty="0" sz="1550" spc="1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timetables,</a:t>
            </a:r>
            <a:r>
              <a:rPr dirty="0" sz="1550" spc="2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campus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services.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550">
              <a:latin typeface="Arial MT"/>
              <a:cs typeface="Arial MT"/>
            </a:endParaRPr>
          </a:p>
          <a:p>
            <a:pPr marL="298450" indent="-285750">
              <a:lnSpc>
                <a:spcPct val="100000"/>
              </a:lnSpc>
              <a:buSzPct val="109677"/>
              <a:buFont typeface="Arial MT"/>
              <a:buChar char="•"/>
              <a:tabLst>
                <a:tab pos="298450" algn="l"/>
              </a:tabLst>
            </a:pPr>
            <a:r>
              <a:rPr dirty="0" sz="1550" b="1">
                <a:latin typeface="Arial"/>
                <a:cs typeface="Arial"/>
              </a:rPr>
              <a:t>Existing</a:t>
            </a:r>
            <a:r>
              <a:rPr dirty="0" sz="1550" spc="229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channels</a:t>
            </a:r>
            <a:r>
              <a:rPr dirty="0" sz="1550" spc="190" b="1">
                <a:latin typeface="Arial"/>
                <a:cs typeface="Arial"/>
              </a:rPr>
              <a:t> </a:t>
            </a:r>
            <a:r>
              <a:rPr dirty="0" sz="1550">
                <a:latin typeface="Arial MT"/>
                <a:cs typeface="Arial MT"/>
              </a:rPr>
              <a:t>—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websites,</a:t>
            </a:r>
            <a:r>
              <a:rPr dirty="0" sz="1550" spc="229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FAQs,</a:t>
            </a:r>
            <a:r>
              <a:rPr dirty="0" sz="1550" spc="1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email,</a:t>
            </a:r>
            <a:r>
              <a:rPr dirty="0" sz="1550" spc="21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1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manual</a:t>
            </a:r>
            <a:r>
              <a:rPr dirty="0" sz="1550" spc="2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help</a:t>
            </a:r>
            <a:r>
              <a:rPr dirty="0" sz="1550" spc="25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desks</a:t>
            </a:r>
            <a:r>
              <a:rPr dirty="0" sz="1550" spc="2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—</a:t>
            </a:r>
            <a:r>
              <a:rPr dirty="0" sz="1550" spc="2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are</a:t>
            </a:r>
            <a:r>
              <a:rPr dirty="0" sz="1550" spc="2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effective</a:t>
            </a:r>
            <a:r>
              <a:rPr dirty="0" sz="1550" spc="20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for</a:t>
            </a:r>
            <a:r>
              <a:rPr dirty="0" sz="1550" spc="21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static</a:t>
            </a:r>
            <a:r>
              <a:rPr dirty="0" sz="1550" spc="2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information</a:t>
            </a:r>
            <a:r>
              <a:rPr dirty="0" sz="1550" spc="2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but</a:t>
            </a:r>
            <a:r>
              <a:rPr dirty="0" sz="1550" spc="19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suffer</a:t>
            </a:r>
            <a:endParaRPr sz="1550">
              <a:latin typeface="Arial MT"/>
              <a:cs typeface="Arial MT"/>
            </a:endParaRPr>
          </a:p>
          <a:p>
            <a:pPr marL="298450">
              <a:lnSpc>
                <a:spcPct val="100000"/>
              </a:lnSpc>
              <a:spcBef>
                <a:spcPts val="20"/>
              </a:spcBef>
            </a:pPr>
            <a:r>
              <a:rPr dirty="0" sz="1550">
                <a:latin typeface="Arial MT"/>
                <a:cs typeface="Arial MT"/>
              </a:rPr>
              <a:t>from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delayed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responses,</a:t>
            </a:r>
            <a:r>
              <a:rPr dirty="0" sz="1550" spc="1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fragmented</a:t>
            </a:r>
            <a:r>
              <a:rPr dirty="0" sz="1550" spc="1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sources,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limited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after-hours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availability,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no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personalisation.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550">
              <a:latin typeface="Arial MT"/>
              <a:cs typeface="Arial MT"/>
            </a:endParaRPr>
          </a:p>
          <a:p>
            <a:pPr algn="just" marL="298450" marR="6985" indent="-286385">
              <a:lnSpc>
                <a:spcPct val="103600"/>
              </a:lnSpc>
              <a:spcBef>
                <a:spcPts val="5"/>
              </a:spcBef>
              <a:buSzPct val="109677"/>
              <a:buChar char="•"/>
              <a:tabLst>
                <a:tab pos="298450" algn="l"/>
              </a:tabLst>
            </a:pPr>
            <a:r>
              <a:rPr dirty="0" sz="1550">
                <a:latin typeface="Arial MT"/>
                <a:cs typeface="Arial MT"/>
              </a:rPr>
              <a:t>When</a:t>
            </a:r>
            <a:r>
              <a:rPr dirty="0" sz="1550" spc="2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we</a:t>
            </a:r>
            <a:r>
              <a:rPr dirty="0" sz="1550" spc="2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looked</a:t>
            </a:r>
            <a:r>
              <a:rPr dirty="0" sz="1550" spc="2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at</a:t>
            </a:r>
            <a:r>
              <a:rPr dirty="0" sz="1550" spc="2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how</a:t>
            </a:r>
            <a:r>
              <a:rPr dirty="0" sz="1550" spc="21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students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currently</a:t>
            </a:r>
            <a:r>
              <a:rPr dirty="0" sz="1550" spc="2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get</a:t>
            </a:r>
            <a:r>
              <a:rPr dirty="0" sz="1550" spc="21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help,</a:t>
            </a:r>
            <a:r>
              <a:rPr dirty="0" sz="1550" spc="2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we</a:t>
            </a:r>
            <a:r>
              <a:rPr dirty="0" sz="1550" spc="2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saw</a:t>
            </a:r>
            <a:r>
              <a:rPr dirty="0" sz="1550" spc="2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broken</a:t>
            </a:r>
            <a:r>
              <a:rPr dirty="0" sz="1550" spc="2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system.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Help</a:t>
            </a:r>
            <a:r>
              <a:rPr dirty="0" sz="1550" spc="2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desks</a:t>
            </a:r>
            <a:r>
              <a:rPr dirty="0" sz="1550" spc="2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are</a:t>
            </a:r>
            <a:r>
              <a:rPr dirty="0" sz="1550" spc="2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closed</a:t>
            </a:r>
            <a:r>
              <a:rPr dirty="0" sz="1550" spc="21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on</a:t>
            </a:r>
            <a:r>
              <a:rPr dirty="0" sz="1550" spc="22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weekends,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2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traditional</a:t>
            </a:r>
            <a:r>
              <a:rPr dirty="0" sz="1550" spc="2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chatbots</a:t>
            </a:r>
            <a:r>
              <a:rPr dirty="0" sz="1550" spc="30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only</a:t>
            </a:r>
            <a:r>
              <a:rPr dirty="0" sz="1550" spc="3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understand</a:t>
            </a:r>
            <a:r>
              <a:rPr dirty="0" sz="1550" spc="2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rigid</a:t>
            </a:r>
            <a:r>
              <a:rPr dirty="0" sz="1550" spc="3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keywords.</a:t>
            </a:r>
            <a:r>
              <a:rPr dirty="0" sz="1550" spc="2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We</a:t>
            </a:r>
            <a:r>
              <a:rPr dirty="0" sz="1550" spc="2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set</a:t>
            </a:r>
            <a:r>
              <a:rPr dirty="0" sz="1550" spc="25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2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clear</a:t>
            </a:r>
            <a:r>
              <a:rPr dirty="0" sz="1550" spc="2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scope</a:t>
            </a:r>
            <a:r>
              <a:rPr dirty="0" sz="1550" spc="2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for</a:t>
            </a:r>
            <a:r>
              <a:rPr dirty="0" sz="1550" spc="2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our</a:t>
            </a:r>
            <a:r>
              <a:rPr dirty="0" sz="1550" spc="2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project:</a:t>
            </a:r>
            <a:r>
              <a:rPr dirty="0" sz="1550" spc="2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we</a:t>
            </a:r>
            <a:r>
              <a:rPr dirty="0" sz="1550" spc="31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wanted</a:t>
            </a:r>
            <a:r>
              <a:rPr dirty="0" sz="1550" spc="2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to</a:t>
            </a:r>
            <a:r>
              <a:rPr dirty="0" sz="1550" spc="2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build</a:t>
            </a:r>
            <a:r>
              <a:rPr dirty="0" sz="1550" spc="290">
                <a:latin typeface="Arial MT"/>
                <a:cs typeface="Arial MT"/>
              </a:rPr>
              <a:t> </a:t>
            </a:r>
            <a:r>
              <a:rPr dirty="0" sz="1550" spc="-50">
                <a:latin typeface="Arial MT"/>
                <a:cs typeface="Arial MT"/>
              </a:rPr>
              <a:t>a </a:t>
            </a:r>
            <a:r>
              <a:rPr dirty="0" sz="1550">
                <a:latin typeface="Arial MT"/>
                <a:cs typeface="Arial MT"/>
              </a:rPr>
              <a:t>system</a:t>
            </a:r>
            <a:r>
              <a:rPr dirty="0" sz="1550" spc="4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that</a:t>
            </a:r>
            <a:r>
              <a:rPr dirty="0" sz="1550" spc="4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could</a:t>
            </a:r>
            <a:r>
              <a:rPr dirty="0" sz="1550" spc="4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handle</a:t>
            </a:r>
            <a:r>
              <a:rPr dirty="0" sz="1550" spc="49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natural,</a:t>
            </a:r>
            <a:r>
              <a:rPr dirty="0" sz="1550" spc="4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conversational</a:t>
            </a:r>
            <a:r>
              <a:rPr dirty="0" sz="1550" spc="459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questions</a:t>
            </a:r>
            <a:r>
              <a:rPr dirty="0" sz="1550" spc="4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about</a:t>
            </a:r>
            <a:r>
              <a:rPr dirty="0" sz="1550" spc="4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admissions,</a:t>
            </a:r>
            <a:r>
              <a:rPr dirty="0" sz="1550" spc="4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fees,</a:t>
            </a:r>
            <a:r>
              <a:rPr dirty="0" sz="1550" spc="4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459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placements.</a:t>
            </a:r>
            <a:r>
              <a:rPr dirty="0" sz="1550" spc="48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For</a:t>
            </a:r>
            <a:r>
              <a:rPr dirty="0" sz="1550" spc="47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security </a:t>
            </a:r>
            <a:r>
              <a:rPr dirty="0" sz="1550">
                <a:latin typeface="Arial MT"/>
                <a:cs typeface="Arial MT"/>
              </a:rPr>
              <a:t>reasons,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we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kept</a:t>
            </a:r>
            <a:r>
              <a:rPr dirty="0" sz="1550" spc="1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transactional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operations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(like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paying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fees)</a:t>
            </a:r>
            <a:r>
              <a:rPr dirty="0" sz="1550" spc="13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out</a:t>
            </a:r>
            <a:r>
              <a:rPr dirty="0" sz="1550" spc="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of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scope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for</a:t>
            </a:r>
            <a:r>
              <a:rPr dirty="0" sz="1550" spc="85">
                <a:latin typeface="Arial MT"/>
                <a:cs typeface="Arial MT"/>
              </a:rPr>
              <a:t> </a:t>
            </a:r>
            <a:r>
              <a:rPr dirty="0" sz="1550" spc="-20">
                <a:latin typeface="Arial MT"/>
                <a:cs typeface="Arial MT"/>
              </a:rPr>
              <a:t>now.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algn="just" marL="298450" marR="5080" indent="-286385">
              <a:lnSpc>
                <a:spcPct val="104900"/>
              </a:lnSpc>
              <a:buSzPct val="109677"/>
              <a:buChar char="•"/>
              <a:tabLst>
                <a:tab pos="298450" algn="l"/>
              </a:tabLst>
            </a:pPr>
            <a:r>
              <a:rPr dirty="0" sz="1550">
                <a:latin typeface="Arial MT"/>
                <a:cs typeface="Arial MT"/>
              </a:rPr>
              <a:t>Modern</a:t>
            </a:r>
            <a:r>
              <a:rPr dirty="0" sz="1550" spc="4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LLMs</a:t>
            </a:r>
            <a:r>
              <a:rPr dirty="0" sz="1550" spc="4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solve</a:t>
            </a:r>
            <a:r>
              <a:rPr dirty="0" sz="1550" spc="5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language-understanding</a:t>
            </a:r>
            <a:r>
              <a:rPr dirty="0" sz="1550" spc="7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problem</a:t>
            </a:r>
            <a:r>
              <a:rPr dirty="0" sz="1550" spc="8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but</a:t>
            </a:r>
            <a:r>
              <a:rPr dirty="0" sz="1550" spc="5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introduce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new</a:t>
            </a:r>
            <a:r>
              <a:rPr dirty="0" sz="1550" spc="5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one: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without</a:t>
            </a:r>
            <a:r>
              <a:rPr dirty="0" sz="1550" spc="5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grounding,</a:t>
            </a:r>
            <a:r>
              <a:rPr dirty="0" sz="1550" spc="5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they</a:t>
            </a:r>
            <a:r>
              <a:rPr dirty="0" sz="1550" spc="50">
                <a:latin typeface="Arial MT"/>
                <a:cs typeface="Arial MT"/>
              </a:rPr>
              <a:t>  </a:t>
            </a:r>
            <a:r>
              <a:rPr dirty="0" sz="1550" spc="-25">
                <a:latin typeface="Arial MT"/>
                <a:cs typeface="Arial MT"/>
              </a:rPr>
              <a:t>can </a:t>
            </a:r>
            <a:r>
              <a:rPr dirty="0" sz="1550">
                <a:latin typeface="Arial MT"/>
                <a:cs typeface="Arial MT"/>
              </a:rPr>
              <a:t>generate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plausible-sounding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but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incorrect</a:t>
            </a:r>
            <a:r>
              <a:rPr dirty="0" sz="1550" spc="1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institutional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information</a:t>
            </a:r>
            <a:r>
              <a:rPr dirty="0" sz="1550" spc="1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(e.g.</a:t>
            </a:r>
            <a:r>
              <a:rPr dirty="0" sz="1550" spc="1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invented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fee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amount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or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wrong</a:t>
            </a:r>
            <a:r>
              <a:rPr dirty="0" sz="1550" spc="1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exam</a:t>
            </a:r>
            <a:r>
              <a:rPr dirty="0" sz="1550" spc="18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date).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algn="just" marL="298450" marR="7620" indent="-286385">
              <a:lnSpc>
                <a:spcPct val="103000"/>
              </a:lnSpc>
              <a:buSzPct val="109677"/>
              <a:buFont typeface="Arial MT"/>
              <a:buChar char="•"/>
              <a:tabLst>
                <a:tab pos="298450" algn="l"/>
              </a:tabLst>
            </a:pPr>
            <a:r>
              <a:rPr dirty="0" sz="1550" b="1">
                <a:latin typeface="Arial"/>
                <a:cs typeface="Arial"/>
              </a:rPr>
              <a:t>Proposed</a:t>
            </a:r>
            <a:r>
              <a:rPr dirty="0" sz="1550" spc="490" b="1">
                <a:latin typeface="Arial"/>
                <a:cs typeface="Arial"/>
              </a:rPr>
              <a:t> </a:t>
            </a:r>
            <a:r>
              <a:rPr dirty="0" sz="1550" b="1">
                <a:latin typeface="Arial"/>
                <a:cs typeface="Arial"/>
              </a:rPr>
              <a:t>solution:</a:t>
            </a:r>
            <a:r>
              <a:rPr dirty="0" sz="1550" spc="459" b="1">
                <a:latin typeface="Arial"/>
                <a:cs typeface="Arial"/>
              </a:rPr>
              <a:t>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4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system</a:t>
            </a:r>
            <a:r>
              <a:rPr dirty="0" sz="1550" spc="47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that</a:t>
            </a:r>
            <a:r>
              <a:rPr dirty="0" sz="1550" spc="4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combines</a:t>
            </a:r>
            <a:r>
              <a:rPr dirty="0" sz="1550" spc="4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the</a:t>
            </a:r>
            <a:r>
              <a:rPr dirty="0" sz="1550" spc="45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language</a:t>
            </a:r>
            <a:r>
              <a:rPr dirty="0" sz="1550" spc="4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understanding</a:t>
            </a:r>
            <a:r>
              <a:rPr dirty="0" sz="1550" spc="46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43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reasoning</a:t>
            </a:r>
            <a:r>
              <a:rPr dirty="0" sz="1550" spc="4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ability</a:t>
            </a:r>
            <a:r>
              <a:rPr dirty="0" sz="1550" spc="4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of</a:t>
            </a:r>
            <a:r>
              <a:rPr dirty="0" sz="1550" spc="4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LLMs</a:t>
            </a:r>
            <a:r>
              <a:rPr dirty="0" sz="1550" spc="4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with</a:t>
            </a:r>
            <a:r>
              <a:rPr dirty="0" sz="1550" spc="470">
                <a:latin typeface="Arial MT"/>
                <a:cs typeface="Arial MT"/>
              </a:rPr>
              <a:t> </a:t>
            </a:r>
            <a:r>
              <a:rPr dirty="0" sz="1550" spc="-25">
                <a:latin typeface="Arial MT"/>
                <a:cs typeface="Arial MT"/>
              </a:rPr>
              <a:t>the </a:t>
            </a:r>
            <a:r>
              <a:rPr dirty="0" sz="1550">
                <a:latin typeface="Arial MT"/>
                <a:cs typeface="Arial MT"/>
              </a:rPr>
              <a:t>factual</a:t>
            </a:r>
            <a:r>
              <a:rPr dirty="0" sz="1550" spc="19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reliability</a:t>
            </a:r>
            <a:r>
              <a:rPr dirty="0" sz="1550" spc="204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of</a:t>
            </a:r>
            <a:r>
              <a:rPr dirty="0" sz="1550" spc="19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Retrieval-Augmented</a:t>
            </a:r>
            <a:r>
              <a:rPr dirty="0" sz="1550" spc="204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Generation</a:t>
            </a:r>
            <a:r>
              <a:rPr dirty="0" sz="1550" spc="18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(RAG)</a:t>
            </a:r>
            <a:r>
              <a:rPr dirty="0" sz="1550" spc="204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over</a:t>
            </a:r>
            <a:r>
              <a:rPr dirty="0" sz="1550" spc="21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a</a:t>
            </a:r>
            <a:r>
              <a:rPr dirty="0" sz="1550" spc="19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verified,</a:t>
            </a:r>
            <a:r>
              <a:rPr dirty="0" sz="1550" spc="18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continuously</a:t>
            </a:r>
            <a:r>
              <a:rPr dirty="0" sz="1550" spc="17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updatable</a:t>
            </a:r>
            <a:r>
              <a:rPr dirty="0" sz="1550" spc="180">
                <a:latin typeface="Arial MT"/>
                <a:cs typeface="Arial MT"/>
              </a:rPr>
              <a:t>  </a:t>
            </a:r>
            <a:r>
              <a:rPr dirty="0" sz="1550" spc="-10">
                <a:latin typeface="Arial MT"/>
                <a:cs typeface="Arial MT"/>
              </a:rPr>
              <a:t>university </a:t>
            </a:r>
            <a:r>
              <a:rPr dirty="0" sz="1550">
                <a:latin typeface="Arial MT"/>
                <a:cs typeface="Arial MT"/>
              </a:rPr>
              <a:t>knowledge</a:t>
            </a:r>
            <a:r>
              <a:rPr dirty="0" sz="1550" spc="150">
                <a:latin typeface="Arial MT"/>
                <a:cs typeface="Arial MT"/>
              </a:rPr>
              <a:t> </a:t>
            </a:r>
            <a:r>
              <a:rPr dirty="0" sz="1550" spc="-20">
                <a:latin typeface="Arial MT"/>
                <a:cs typeface="Arial MT"/>
              </a:rPr>
              <a:t>base.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algn="just" marL="298450" marR="13335" indent="-286385">
              <a:lnSpc>
                <a:spcPct val="100899"/>
              </a:lnSpc>
              <a:buSzPct val="109677"/>
              <a:buFont typeface="Arial MT"/>
              <a:buChar char="•"/>
              <a:tabLst>
                <a:tab pos="298450" algn="l"/>
              </a:tabLst>
            </a:pPr>
            <a:r>
              <a:rPr dirty="0" sz="1550" b="1">
                <a:latin typeface="Arial"/>
                <a:cs typeface="Arial"/>
              </a:rPr>
              <a:t>Scope:</a:t>
            </a:r>
            <a:r>
              <a:rPr dirty="0" sz="1550" spc="495" b="1">
                <a:latin typeface="Arial"/>
                <a:cs typeface="Arial"/>
              </a:rPr>
              <a:t> </a:t>
            </a:r>
            <a:r>
              <a:rPr dirty="0" sz="1550">
                <a:latin typeface="Arial MT"/>
                <a:cs typeface="Arial MT"/>
              </a:rPr>
              <a:t>covers</a:t>
            </a:r>
            <a:r>
              <a:rPr dirty="0" sz="1550" spc="4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conversational</a:t>
            </a:r>
            <a:r>
              <a:rPr dirty="0" sz="1550" spc="44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assistance</a:t>
            </a:r>
            <a:r>
              <a:rPr dirty="0" sz="1550" spc="48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459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information</a:t>
            </a:r>
            <a:r>
              <a:rPr dirty="0" sz="1550" spc="459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retrieval</a:t>
            </a:r>
            <a:r>
              <a:rPr dirty="0" sz="1550" spc="4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for</a:t>
            </a:r>
            <a:r>
              <a:rPr dirty="0" sz="1550" spc="4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admissions,</a:t>
            </a:r>
            <a:r>
              <a:rPr dirty="0" sz="1550" spc="4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academics,</a:t>
            </a:r>
            <a:r>
              <a:rPr dirty="0" sz="1550" spc="4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examinations,</a:t>
            </a:r>
            <a:r>
              <a:rPr dirty="0" sz="1550" spc="48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fees, </a:t>
            </a:r>
            <a:r>
              <a:rPr dirty="0" sz="1550">
                <a:latin typeface="Arial MT"/>
                <a:cs typeface="Arial MT"/>
              </a:rPr>
              <a:t>placements,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scholarships,</a:t>
            </a:r>
            <a:r>
              <a:rPr dirty="0" sz="1550" spc="20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academic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calendars,</a:t>
            </a:r>
            <a:r>
              <a:rPr dirty="0" sz="1550" spc="20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notices,</a:t>
            </a:r>
            <a:r>
              <a:rPr dirty="0" sz="1550" spc="11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campus</a:t>
            </a:r>
            <a:r>
              <a:rPr dirty="0" sz="1550" spc="16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facilities,</a:t>
            </a:r>
            <a:r>
              <a:rPr dirty="0" sz="1550" spc="1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and</a:t>
            </a:r>
            <a:r>
              <a:rPr dirty="0" sz="1550" spc="114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general</a:t>
            </a:r>
            <a:r>
              <a:rPr dirty="0" sz="1550" spc="175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FAQs.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 MT"/>
              <a:buChar char="•"/>
            </a:pPr>
            <a:endParaRPr sz="1550">
              <a:latin typeface="Arial MT"/>
              <a:cs typeface="Arial MT"/>
            </a:endParaRPr>
          </a:p>
          <a:p>
            <a:pPr algn="just" marL="298450" marR="5080" indent="-286385">
              <a:lnSpc>
                <a:spcPct val="105000"/>
              </a:lnSpc>
              <a:buSzPct val="109677"/>
              <a:buFont typeface="Arial MT"/>
              <a:buChar char="•"/>
              <a:tabLst>
                <a:tab pos="298450" algn="l"/>
              </a:tabLst>
            </a:pPr>
            <a:r>
              <a:rPr dirty="0" sz="1550" b="1">
                <a:latin typeface="Arial"/>
                <a:cs typeface="Arial"/>
              </a:rPr>
              <a:t>Out</a:t>
            </a:r>
            <a:r>
              <a:rPr dirty="0" sz="1550" spc="50" b="1">
                <a:latin typeface="Arial"/>
                <a:cs typeface="Arial"/>
              </a:rPr>
              <a:t>  </a:t>
            </a:r>
            <a:r>
              <a:rPr dirty="0" sz="1550" b="1">
                <a:latin typeface="Arial"/>
                <a:cs typeface="Arial"/>
              </a:rPr>
              <a:t>of</a:t>
            </a:r>
            <a:r>
              <a:rPr dirty="0" sz="1550" spc="70" b="1">
                <a:latin typeface="Arial"/>
                <a:cs typeface="Arial"/>
              </a:rPr>
              <a:t>  </a:t>
            </a:r>
            <a:r>
              <a:rPr dirty="0" sz="1550" b="1">
                <a:latin typeface="Arial"/>
                <a:cs typeface="Arial"/>
              </a:rPr>
              <a:t>scope:</a:t>
            </a:r>
            <a:r>
              <a:rPr dirty="0" sz="1550" spc="70" b="1">
                <a:latin typeface="Arial"/>
                <a:cs typeface="Arial"/>
              </a:rPr>
              <a:t>  </a:t>
            </a:r>
            <a:r>
              <a:rPr dirty="0" sz="1550">
                <a:latin typeface="Arial MT"/>
                <a:cs typeface="Arial MT"/>
              </a:rPr>
              <a:t>transactional</a:t>
            </a:r>
            <a:r>
              <a:rPr dirty="0" sz="1550" spc="7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operations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such</a:t>
            </a:r>
            <a:r>
              <a:rPr dirty="0" sz="1550" spc="7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as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online</a:t>
            </a:r>
            <a:r>
              <a:rPr dirty="0" sz="1550" spc="65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admission</a:t>
            </a:r>
            <a:r>
              <a:rPr dirty="0" sz="1550" spc="7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form</a:t>
            </a:r>
            <a:r>
              <a:rPr dirty="0" sz="1550" spc="8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submission,</a:t>
            </a:r>
            <a:r>
              <a:rPr dirty="0" sz="1550" spc="4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fee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payment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>
                <a:latin typeface="Arial MT"/>
                <a:cs typeface="Arial MT"/>
              </a:rPr>
              <a:t>processing,</a:t>
            </a:r>
            <a:r>
              <a:rPr dirty="0" sz="1550" spc="60">
                <a:latin typeface="Arial MT"/>
                <a:cs typeface="Arial MT"/>
              </a:rPr>
              <a:t>  </a:t>
            </a:r>
            <a:r>
              <a:rPr dirty="0" sz="1550" spc="-25">
                <a:latin typeface="Arial MT"/>
                <a:cs typeface="Arial MT"/>
              </a:rPr>
              <a:t>or </a:t>
            </a:r>
            <a:r>
              <a:rPr dirty="0" sz="1550">
                <a:latin typeface="Arial MT"/>
                <a:cs typeface="Arial MT"/>
              </a:rPr>
              <a:t>modification</a:t>
            </a:r>
            <a:r>
              <a:rPr dirty="0" sz="1550" spc="1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of</a:t>
            </a:r>
            <a:r>
              <a:rPr dirty="0" sz="1550" spc="12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academic</a:t>
            </a:r>
            <a:r>
              <a:rPr dirty="0" sz="1550" spc="10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records</a:t>
            </a:r>
            <a:r>
              <a:rPr dirty="0" sz="1550" spc="9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—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reserved</a:t>
            </a:r>
            <a:r>
              <a:rPr dirty="0" sz="1550" spc="17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for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future</a:t>
            </a:r>
            <a:r>
              <a:rPr dirty="0" sz="1550" spc="12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integration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with</a:t>
            </a:r>
            <a:r>
              <a:rPr dirty="0" sz="1550" spc="140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secure</a:t>
            </a:r>
            <a:r>
              <a:rPr dirty="0" sz="1550" spc="155">
                <a:latin typeface="Arial MT"/>
                <a:cs typeface="Arial MT"/>
              </a:rPr>
              <a:t> </a:t>
            </a:r>
            <a:r>
              <a:rPr dirty="0" sz="1550">
                <a:latin typeface="Arial MT"/>
                <a:cs typeface="Arial MT"/>
              </a:rPr>
              <a:t>institutional</a:t>
            </a:r>
            <a:r>
              <a:rPr dirty="0" sz="1550" spc="130">
                <a:latin typeface="Arial MT"/>
                <a:cs typeface="Arial MT"/>
              </a:rPr>
              <a:t> </a:t>
            </a:r>
            <a:r>
              <a:rPr dirty="0" sz="1550" spc="-10">
                <a:latin typeface="Arial MT"/>
                <a:cs typeface="Arial MT"/>
              </a:rPr>
              <a:t>systems.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4669" y="282955"/>
            <a:ext cx="2316480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65">
                <a:latin typeface="Trebuchet MS"/>
                <a:cs typeface="Trebuchet MS"/>
              </a:rPr>
              <a:t>Literature</a:t>
            </a:r>
            <a:r>
              <a:rPr dirty="0" spc="-100">
                <a:latin typeface="Trebuchet MS"/>
                <a:cs typeface="Trebuchet MS"/>
              </a:rPr>
              <a:t> </a:t>
            </a:r>
            <a:r>
              <a:rPr dirty="0" spc="-70">
                <a:latin typeface="Trebuchet MS"/>
                <a:cs typeface="Trebuchet MS"/>
              </a:rPr>
              <a:t>Review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0547" y="1165605"/>
          <a:ext cx="11550650" cy="555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2625"/>
                <a:gridCol w="2690495"/>
                <a:gridCol w="1764029"/>
                <a:gridCol w="2505075"/>
                <a:gridCol w="1910715"/>
                <a:gridCol w="1910715"/>
              </a:tblGrid>
              <a:tr h="300990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Reference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dirty="0" sz="11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Methodological</a:t>
                      </a:r>
                      <a:r>
                        <a:rPr dirty="0" sz="110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Identified</a:t>
                      </a:r>
                      <a:r>
                        <a:rPr dirty="0" sz="1100" spc="-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1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334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301625">
                        <a:lnSpc>
                          <a:spcPct val="1165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Lewis et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al. (2020)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“Retrieval-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Augmented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Generation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Knowledge-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Intensive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dirty="0" sz="11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Tasks”,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NeurIPS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264160">
                        <a:lnSpc>
                          <a:spcPct val="1165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RAG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framework: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dense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retriever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seq2seq generator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176530">
                        <a:lnSpc>
                          <a:spcPct val="115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Coupled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dense-passage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retriever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pretrained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generator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so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looks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documents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before answering.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66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54940" marR="135890">
                        <a:lnSpc>
                          <a:spcPct val="114900"/>
                        </a:lnSpc>
                        <a:spcBef>
                          <a:spcPts val="59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hallucination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allowed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knowledge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source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updated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without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retraining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generator -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the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idea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builds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on.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55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6845" marR="269875">
                        <a:lnSpc>
                          <a:spcPct val="1151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Retrieval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latency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dependence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retrieval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remain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open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challenges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1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deployment.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334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215900">
                        <a:lnSpc>
                          <a:spcPct val="1167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Karpukhin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(2020)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“Dense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Passage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Retrieval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Open-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Domain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Question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Answering”,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EMNLP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356235">
                        <a:lnSpc>
                          <a:spcPct val="113799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Dual-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encoder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dense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vector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retrieval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(DPR)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158750">
                        <a:lnSpc>
                          <a:spcPct val="115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Learned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dense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embeddings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questions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passages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semantically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related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text can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retrieved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without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exact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keyword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overlap.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85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4940" marR="237490">
                        <a:lnSpc>
                          <a:spcPct val="1151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Outperformed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traditional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sparse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retrieval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(BM25)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open-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domain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QA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benchmarks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capturing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latent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semantic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similarity.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6845" marR="209550">
                        <a:lnSpc>
                          <a:spcPct val="1151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Struggles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exact-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match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ID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numbers,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codes,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dates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relevant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fee/exam-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schedule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style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university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queries.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438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185420">
                        <a:lnSpc>
                          <a:spcPct val="11570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Wozniak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(2025) -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“Retrieval-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Augmented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Generation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(RAG)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Chatbots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Education: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Survey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Applications”,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MDPI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Sciences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Systematic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survey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RAG-in-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education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papers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337185">
                        <a:lnSpc>
                          <a:spcPct val="115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Classified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RAG-chatbot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studies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target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learner,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knowledge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scope,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underlying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LLM,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method.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54940" marR="322580">
                        <a:lnSpc>
                          <a:spcPct val="115700"/>
                        </a:lnSpc>
                        <a:spcBef>
                          <a:spcPts val="26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Confirmed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RAG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dominant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strategy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curbing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hallucination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educational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LLM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deployments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mapped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field's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growth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since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2020.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90500">
                        <a:lnSpc>
                          <a:spcPct val="114900"/>
                        </a:lnSpc>
                        <a:spcBef>
                          <a:spcPts val="103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Notes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lack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standardized,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comparative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metrics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across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studies,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making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cross-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paper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comparison difficult.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14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148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Mao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 al.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(2021)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“A</a:t>
                      </a:r>
                      <a:r>
                        <a:rPr dirty="0" sz="1100" spc="-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Survey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Retrieval-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Augmented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Generation”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363855">
                        <a:lnSpc>
                          <a:spcPct val="1157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Systematic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survey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parametric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vs.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parametric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hybrid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text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generation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9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139065">
                        <a:lnSpc>
                          <a:spcPct val="116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Compared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dense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vs.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sparse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retrieval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architectures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cross-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encoder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scoring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strategies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RAG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literature.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366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4940" marR="351155">
                        <a:lnSpc>
                          <a:spcPct val="115199"/>
                        </a:lnSpc>
                        <a:spcBef>
                          <a:spcPts val="66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Outlined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broader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architectural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shift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toward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coupling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generation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external,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updatable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knowledge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sources.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47955">
                        <a:lnSpc>
                          <a:spcPct val="115199"/>
                        </a:lnSpc>
                        <a:spcBef>
                          <a:spcPts val="66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Did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address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specialised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architectural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secure, access-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controlled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enterprise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institutional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deployments.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38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4669" y="282955"/>
            <a:ext cx="2316480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65">
                <a:latin typeface="Trebuchet MS"/>
                <a:cs typeface="Trebuchet MS"/>
              </a:rPr>
              <a:t>Literature</a:t>
            </a:r>
            <a:r>
              <a:rPr dirty="0" spc="-100">
                <a:latin typeface="Trebuchet MS"/>
                <a:cs typeface="Trebuchet MS"/>
              </a:rPr>
              <a:t> </a:t>
            </a:r>
            <a:r>
              <a:rPr dirty="0" spc="-70">
                <a:latin typeface="Trebuchet MS"/>
                <a:cs typeface="Trebuchet MS"/>
              </a:rPr>
              <a:t>Review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17233" y="1121028"/>
          <a:ext cx="11625580" cy="54705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070"/>
                <a:gridCol w="2604135"/>
                <a:gridCol w="1564005"/>
                <a:gridCol w="2837814"/>
                <a:gridCol w="1923415"/>
                <a:gridCol w="1923415"/>
              </a:tblGrid>
              <a:tr h="311785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No.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Reference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Core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Methodological</a:t>
                      </a:r>
                      <a:r>
                        <a:rPr dirty="0" sz="1100" spc="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Approach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Key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Findings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Identified</a:t>
                      </a:r>
                      <a:r>
                        <a:rPr dirty="0" sz="1100" spc="-5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Research</a:t>
                      </a:r>
                      <a:r>
                        <a:rPr dirty="0" sz="1100" spc="-4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Gap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241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50">
                          <a:latin typeface="Arial MT"/>
                          <a:cs typeface="Arial MT"/>
                        </a:rPr>
                        <a:t>5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149860" marR="171450">
                        <a:lnSpc>
                          <a:spcPct val="115300"/>
                        </a:lnSpc>
                        <a:spcBef>
                          <a:spcPts val="1000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Saha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&amp; Saha</a:t>
                      </a:r>
                      <a:r>
                        <a:rPr dirty="0" sz="110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(2024)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 “Enhancing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International</a:t>
                      </a:r>
                      <a:r>
                        <a:rPr dirty="0" sz="11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Graduate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Student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Experience</a:t>
                      </a:r>
                      <a:r>
                        <a:rPr dirty="0" sz="110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through</a:t>
                      </a:r>
                      <a:r>
                        <a:rPr dirty="0" sz="1100" spc="-9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AI-Driven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Support Systems:</a:t>
                      </a:r>
                      <a:r>
                        <a:rPr dirty="0" sz="11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LLM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RAG-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Based</a:t>
                      </a:r>
                      <a:r>
                        <a:rPr dirty="0" sz="1100" spc="-1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Approach”,</a:t>
                      </a:r>
                      <a:r>
                        <a:rPr dirty="0" sz="1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IEEE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ICoDSA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1270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LLM</a:t>
                      </a:r>
                      <a:r>
                        <a:rPr dirty="0" sz="11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1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RAG,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151765" marR="377825">
                        <a:lnSpc>
                          <a:spcPts val="158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institutional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FAQ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corpus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240029">
                        <a:lnSpc>
                          <a:spcPct val="115700"/>
                        </a:lnSpc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Applied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RAG-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augmented</a:t>
                      </a:r>
                      <a:r>
                        <a:rPr dirty="0" sz="1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LLM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answer</a:t>
                      </a:r>
                      <a:r>
                        <a:rPr dirty="0" sz="1100" spc="-8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international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graduate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students'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visa,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orientation,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enrolment questions.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261620">
                        <a:lnSpc>
                          <a:spcPct val="114999"/>
                        </a:lnSpc>
                        <a:spcBef>
                          <a:spcPts val="240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Found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 RAG-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based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assistant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reduced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repetitive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staff</a:t>
                      </a:r>
                      <a:r>
                        <a:rPr dirty="0" sz="1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workload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while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giving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more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consistent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answers</a:t>
                      </a:r>
                      <a:r>
                        <a:rPr dirty="0" sz="1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than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static</a:t>
                      </a:r>
                      <a:r>
                        <a:rPr dirty="0" sz="11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FAQ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 pages.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73990">
                        <a:lnSpc>
                          <a:spcPct val="114999"/>
                        </a:lnSpc>
                        <a:spcBef>
                          <a:spcPts val="240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Evaluation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was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limited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single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student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 cohort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did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test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long-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term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maintenance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cost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of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keeping</a:t>
                      </a:r>
                      <a:r>
                        <a:rPr dirty="0" sz="11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knowledge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base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current.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E2F3"/>
                    </a:solidFill>
                  </a:tcPr>
                </a:tc>
              </a:tr>
              <a:tr h="1434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Arial MT"/>
                          <a:cs typeface="Arial MT"/>
                        </a:rPr>
                        <a:t>6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143510">
                        <a:lnSpc>
                          <a:spcPct val="115700"/>
                        </a:lnSpc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Amarnath</a:t>
                      </a:r>
                      <a:r>
                        <a:rPr dirty="0" sz="1100" spc="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&amp;</a:t>
                      </a:r>
                      <a:r>
                        <a:rPr dirty="0" sz="11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Nagarajan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(2024)</a:t>
                      </a:r>
                      <a:r>
                        <a:rPr dirty="0" sz="1100" spc="2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“An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Intelligent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RAG</a:t>
                      </a:r>
                      <a:r>
                        <a:rPr dirty="0" sz="11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Chatbot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for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Contextually-Aware</a:t>
                      </a:r>
                      <a:r>
                        <a:rPr dirty="0" sz="11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Conversations</a:t>
                      </a:r>
                      <a:r>
                        <a:rPr dirty="0" sz="11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Guide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High</a:t>
                      </a:r>
                      <a:r>
                        <a:rPr dirty="0" sz="11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School</a:t>
                      </a:r>
                      <a:r>
                        <a:rPr dirty="0" sz="11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Students”,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IEEE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208279">
                        <a:lnSpc>
                          <a:spcPct val="116599"/>
                        </a:lnSpc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RAG,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LLM,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course-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guide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knowledge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base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330200">
                        <a:lnSpc>
                          <a:spcPct val="116599"/>
                        </a:lnSpc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Grounded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11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LLM</a:t>
                      </a:r>
                      <a:r>
                        <a:rPr dirty="0" sz="1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1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curated</a:t>
                      </a:r>
                      <a:r>
                        <a:rPr dirty="0" sz="11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course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guide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using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RAG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pipeline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advise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students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academic</a:t>
                      </a:r>
                      <a:r>
                        <a:rPr dirty="0" sz="11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planning.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326390">
                        <a:lnSpc>
                          <a:spcPct val="115700"/>
                        </a:lnSpc>
                        <a:spcBef>
                          <a:spcPts val="245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Demonstrated</a:t>
                      </a:r>
                      <a:r>
                        <a:rPr dirty="0" sz="11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that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grounding</a:t>
                      </a:r>
                      <a:r>
                        <a:rPr dirty="0" sz="11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substantially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reduces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confident-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but-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false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(“hallucinated”)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answers</a:t>
                      </a:r>
                      <a:r>
                        <a:rPr dirty="0" sz="11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versus</a:t>
                      </a:r>
                      <a:r>
                        <a:rPr dirty="0" sz="1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an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ungrounded</a:t>
                      </a:r>
                      <a:r>
                        <a:rPr dirty="0" sz="11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LLM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baseline.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45415">
                        <a:lnSpc>
                          <a:spcPct val="114999"/>
                        </a:lnSpc>
                        <a:spcBef>
                          <a:spcPts val="1015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Domain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narrow</a:t>
                      </a:r>
                      <a:r>
                        <a:rPr dirty="0" sz="1100" spc="-6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(single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course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guide)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pre-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college;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scalability</a:t>
                      </a:r>
                      <a:r>
                        <a:rPr dirty="0" sz="11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full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multi-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service</a:t>
                      </a:r>
                      <a:r>
                        <a:rPr dirty="0" sz="1100" spc="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university knowledge</a:t>
                      </a:r>
                      <a:r>
                        <a:rPr dirty="0" sz="1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base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is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untested.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1289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241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Arial MT"/>
                          <a:cs typeface="Arial MT"/>
                        </a:rPr>
                        <a:t>7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347980">
                        <a:lnSpc>
                          <a:spcPct val="115700"/>
                        </a:lnSpc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Studener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(2025)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-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“Retrieval-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Augmented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Chatbots</a:t>
                      </a:r>
                      <a:r>
                        <a:rPr dirty="0" sz="11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Scalable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Educational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Support</a:t>
                      </a:r>
                      <a:r>
                        <a:rPr dirty="0" sz="11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 Higher Education”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LLM</a:t>
                      </a:r>
                      <a:r>
                        <a:rPr dirty="0" sz="1100" spc="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+</a:t>
                      </a:r>
                      <a:r>
                        <a:rPr dirty="0" sz="1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RAG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integrated</a:t>
                      </a:r>
                      <a:r>
                        <a:rPr dirty="0" sz="11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with</a:t>
                      </a:r>
                      <a:endParaRPr sz="1100">
                        <a:latin typeface="Arial MT"/>
                        <a:cs typeface="Arial MT"/>
                      </a:endParaRPr>
                    </a:p>
                    <a:p>
                      <a:pPr marL="151765" marR="297180">
                        <a:lnSpc>
                          <a:spcPct val="113799"/>
                        </a:lnSpc>
                        <a:spcBef>
                          <a:spcPts val="75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course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materials 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/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LMS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920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53035" marR="539115">
                        <a:lnSpc>
                          <a:spcPct val="115199"/>
                        </a:lnSpc>
                        <a:spcBef>
                          <a:spcPts val="1030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Built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didactic</a:t>
                      </a:r>
                      <a:r>
                        <a:rPr dirty="0" sz="11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RAG chatbot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an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educational-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science module</a:t>
                      </a:r>
                      <a:r>
                        <a:rPr dirty="0" sz="1100" spc="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analyzed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response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quality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against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course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content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organisational queries.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130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139700">
                        <a:lnSpc>
                          <a:spcPct val="114999"/>
                        </a:lnSpc>
                        <a:spcBef>
                          <a:spcPts val="270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Showed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chatbot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could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distinguish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 question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context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(content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vs.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administrative)</a:t>
                      </a:r>
                      <a:r>
                        <a:rPr dirty="0" sz="1100" spc="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respond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appropriately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using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linked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materials.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64465">
                        <a:lnSpc>
                          <a:spcPct val="115199"/>
                        </a:lnSpc>
                        <a:spcBef>
                          <a:spcPts val="1030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Reported</a:t>
                      </a:r>
                      <a:r>
                        <a:rPr dirty="0" sz="1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early-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stage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results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only;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robustness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across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disciplines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beyond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pilot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module</a:t>
                      </a:r>
                      <a:r>
                        <a:rPr dirty="0" sz="11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was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not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evaluated.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1308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241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Arial MT"/>
                          <a:cs typeface="Arial MT"/>
                        </a:rPr>
                        <a:t>8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49860" marR="166370">
                        <a:lnSpc>
                          <a:spcPct val="115199"/>
                        </a:lnSpc>
                        <a:spcBef>
                          <a:spcPts val="1045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Allen,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Naeem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&amp; Gill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(2024)</a:t>
                      </a:r>
                      <a:r>
                        <a:rPr dirty="0" sz="11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“Q-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Module-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Bot:</a:t>
                      </a:r>
                      <a:r>
                        <a:rPr dirty="0" sz="1100" spc="-7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Generative</a:t>
                      </a:r>
                      <a:r>
                        <a:rPr dirty="0" sz="1100" spc="-9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AI-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Based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Question</a:t>
                      </a:r>
                      <a:r>
                        <a:rPr dirty="0" sz="11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Answer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Bot</a:t>
                      </a:r>
                      <a:r>
                        <a:rPr dirty="0" sz="1100" spc="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Module Teaching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Support”,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IEEE</a:t>
                      </a:r>
                      <a:r>
                        <a:rPr dirty="0" sz="11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Trans.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on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Education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132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180975">
                        <a:lnSpc>
                          <a:spcPct val="116599"/>
                        </a:lnSpc>
                      </a:pPr>
                      <a:r>
                        <a:rPr dirty="0" sz="1100" spc="-30">
                          <a:latin typeface="Arial MT"/>
                          <a:cs typeface="Arial MT"/>
                        </a:rPr>
                        <a:t>GPT-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based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LLM</a:t>
                      </a:r>
                      <a:r>
                        <a:rPr dirty="0" sz="1100" spc="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50">
                          <a:latin typeface="Arial MT"/>
                          <a:cs typeface="Arial MT"/>
                        </a:rPr>
                        <a:t>+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information</a:t>
                      </a:r>
                      <a:r>
                        <a:rPr dirty="0" sz="1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retrieval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over</a:t>
                      </a:r>
                      <a:r>
                        <a:rPr dirty="0" sz="11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VLE</a:t>
                      </a:r>
                      <a:r>
                        <a:rPr dirty="0" sz="1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content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358775">
                        <a:lnSpc>
                          <a:spcPct val="1157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Built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Q&amp;A</a:t>
                      </a:r>
                      <a:r>
                        <a:rPr dirty="0" sz="1100" spc="-8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bot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grounded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virtual-learning-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environment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(VLE)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course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materials</a:t>
                      </a:r>
                      <a:r>
                        <a:rPr dirty="0" sz="1100" spc="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support</a:t>
                      </a:r>
                      <a:r>
                        <a:rPr dirty="0" sz="1100" spc="-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single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teaching module.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673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156210">
                        <a:lnSpc>
                          <a:spcPct val="115199"/>
                        </a:lnSpc>
                        <a:spcBef>
                          <a:spcPts val="1045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Delivered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real-</a:t>
                      </a:r>
                      <a:r>
                        <a:rPr dirty="0" sz="1100" spc="-20">
                          <a:latin typeface="Arial MT"/>
                          <a:cs typeface="Arial MT"/>
                        </a:rPr>
                        <a:t>time,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source-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attributed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 answers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was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well</a:t>
                      </a:r>
                      <a:r>
                        <a:rPr dirty="0" sz="1100" spc="-7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received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across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cross-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departmental</a:t>
                      </a:r>
                      <a:r>
                        <a:rPr dirty="0" sz="1100" spc="-3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pilot.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132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58115">
                        <a:lnSpc>
                          <a:spcPct val="114999"/>
                        </a:lnSpc>
                        <a:spcBef>
                          <a:spcPts val="285"/>
                        </a:spcBef>
                      </a:pPr>
                      <a:r>
                        <a:rPr dirty="0" sz="1100">
                          <a:latin typeface="Arial MT"/>
                          <a:cs typeface="Arial MT"/>
                        </a:rPr>
                        <a:t>Restricted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100" spc="-4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single-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module,</a:t>
                      </a:r>
                      <a:r>
                        <a:rPr dirty="0" sz="1100" spc="-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text-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only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content;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full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integration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across</a:t>
                      </a:r>
                      <a:r>
                        <a:rPr dirty="0" sz="1100" spc="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the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VLE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expansion</a:t>
                      </a:r>
                      <a:r>
                        <a:rPr dirty="0" sz="1100" spc="-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to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other</a:t>
                      </a:r>
                      <a:r>
                        <a:rPr dirty="0" sz="1100" spc="-5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modules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was</a:t>
                      </a:r>
                      <a:r>
                        <a:rPr dirty="0" sz="1100" spc="-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left</a:t>
                      </a:r>
                      <a:r>
                        <a:rPr dirty="0" sz="1100" spc="1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25">
                          <a:latin typeface="Arial MT"/>
                          <a:cs typeface="Arial MT"/>
                        </a:rPr>
                        <a:t>for </a:t>
                      </a:r>
                      <a:r>
                        <a:rPr dirty="0" sz="1100">
                          <a:latin typeface="Arial MT"/>
                          <a:cs typeface="Arial MT"/>
                        </a:rPr>
                        <a:t>future</a:t>
                      </a:r>
                      <a:r>
                        <a:rPr dirty="0" sz="1100" spc="-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00" spc="-10">
                          <a:latin typeface="Arial MT"/>
                          <a:cs typeface="Arial MT"/>
                        </a:rPr>
                        <a:t>work.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4669" y="282955"/>
            <a:ext cx="2316480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65">
                <a:latin typeface="Trebuchet MS"/>
                <a:cs typeface="Trebuchet MS"/>
              </a:rPr>
              <a:t>Literature</a:t>
            </a:r>
            <a:r>
              <a:rPr dirty="0" spc="-100">
                <a:latin typeface="Trebuchet MS"/>
                <a:cs typeface="Trebuchet MS"/>
              </a:rPr>
              <a:t> </a:t>
            </a:r>
            <a:r>
              <a:rPr dirty="0" spc="-70">
                <a:latin typeface="Trebuchet MS"/>
                <a:cs typeface="Trebuchet MS"/>
              </a:rPr>
              <a:t>Review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21386" y="1104900"/>
          <a:ext cx="11625580" cy="5534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055"/>
                <a:gridCol w="2723514"/>
                <a:gridCol w="1563369"/>
                <a:gridCol w="2837179"/>
                <a:gridCol w="1922779"/>
                <a:gridCol w="1922779"/>
              </a:tblGrid>
              <a:tr h="281940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Reference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dirty="0" sz="1100" spc="-6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Methodological</a:t>
                      </a:r>
                      <a:r>
                        <a:rPr dirty="0" sz="1100" spc="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Identified</a:t>
                      </a:r>
                      <a:r>
                        <a:rPr dirty="0" sz="11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415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Al-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Jedaie et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(2022)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“A</a:t>
                      </a:r>
                      <a:r>
                        <a:rPr dirty="0" sz="1100" spc="-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Chatbot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Academic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Advising”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271780">
                        <a:lnSpc>
                          <a:spcPct val="116700"/>
                        </a:lnSpc>
                        <a:spcBef>
                          <a:spcPts val="5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NLP,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intent classification,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rule-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dialogue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trees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361315">
                        <a:lnSpc>
                          <a:spcPct val="1167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Mapped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common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advising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FAQs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institutional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policy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questions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intent-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dialogue-tree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pipeline.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5575" marR="165100">
                        <a:lnSpc>
                          <a:spcPct val="115199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meaningful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share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routine,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repetitive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advising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questions,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reducing face-to-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face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advisor workload.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6845" marR="266065">
                        <a:lnSpc>
                          <a:spcPct val="115199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Rigid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intent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structure: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degrades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sharply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once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student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phrasing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diverges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predefined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intents.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187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338455">
                        <a:lnSpc>
                          <a:spcPct val="1139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Vaswani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(2017)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“Attention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All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Need”,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NeurIPS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334010">
                        <a:lnSpc>
                          <a:spcPct val="115700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Transformer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(self-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attention,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encoder–decoder)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233679">
                        <a:lnSpc>
                          <a:spcPct val="116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Introduced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attention-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sequence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removed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recurrence/convolution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sequence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transduction.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5575" marR="230504">
                        <a:lnSpc>
                          <a:spcPct val="1157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art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translation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while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enabling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parallelisation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training.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6845" marR="278765">
                        <a:lnSpc>
                          <a:spcPct val="1157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Foundational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architecture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factual-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grounding,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retrieval,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safety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layer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dirty="0" sz="11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own.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213995">
                        <a:lnSpc>
                          <a:spcPct val="1165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Devlin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(2019)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“BERT: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Pre-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training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Bidirectional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Transformers”, NAACL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254000">
                        <a:lnSpc>
                          <a:spcPct val="1157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Bidirectional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transformer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encoder,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masked-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language-model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pre-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training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153035" marR="267335">
                        <a:lnSpc>
                          <a:spcPct val="116599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deep bidirectional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encoder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unlabelled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corpora,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fine-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tuned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 downstream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dirty="0" sz="11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tasks.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5575" marR="318770">
                        <a:lnSpc>
                          <a:spcPct val="115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state-of-the-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art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results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eleven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NLP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benchmarks,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including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question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answering.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540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70815">
                        <a:lnSpc>
                          <a:spcPct val="114900"/>
                        </a:lnSpc>
                        <a:spcBef>
                          <a:spcPts val="27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encoder-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not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designed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open-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ended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generation,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limiting</a:t>
                      </a:r>
                      <a:r>
                        <a:rPr dirty="0" sz="11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direct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conversational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answer synthesis.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403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215265">
                        <a:lnSpc>
                          <a:spcPct val="1165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Radford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(2019)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“Language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Models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Unsupervised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Multitask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Learners” 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(GPT-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253365">
                        <a:lnSpc>
                          <a:spcPct val="1157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Autoregressive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transformer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decoder,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zero-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shot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task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execution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323850">
                        <a:lnSpc>
                          <a:spcPct val="115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Pretrained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decoder-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model on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large-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evaluated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tasks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purely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via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prompt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context, without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task-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fine-tuning.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5575" marR="172085">
                        <a:lnSpc>
                          <a:spcPct val="1151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Showed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strong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generative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fluency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across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summarisation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translation-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style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tasks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explicit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supervision.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6845" marR="189230">
                        <a:lnSpc>
                          <a:spcPct val="1151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Prone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confident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factual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fabrication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(hallucination),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since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generation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is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ungrounded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external,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verifiable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source.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4669" y="282955"/>
            <a:ext cx="2316480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65">
                <a:latin typeface="Trebuchet MS"/>
                <a:cs typeface="Trebuchet MS"/>
              </a:rPr>
              <a:t>Literature</a:t>
            </a:r>
            <a:r>
              <a:rPr dirty="0" spc="-100">
                <a:latin typeface="Trebuchet MS"/>
                <a:cs typeface="Trebuchet MS"/>
              </a:rPr>
              <a:t> </a:t>
            </a:r>
            <a:r>
              <a:rPr dirty="0" spc="-70">
                <a:latin typeface="Trebuchet MS"/>
                <a:cs typeface="Trebuchet MS"/>
              </a:rPr>
              <a:t>Review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21386" y="1104900"/>
          <a:ext cx="11625580" cy="55695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055"/>
                <a:gridCol w="2723514"/>
                <a:gridCol w="1563369"/>
                <a:gridCol w="2837179"/>
                <a:gridCol w="1922779"/>
                <a:gridCol w="1922779"/>
              </a:tblGrid>
              <a:tr h="281940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Reference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dirty="0" sz="1100" spc="-6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Methodological</a:t>
                      </a:r>
                      <a:r>
                        <a:rPr dirty="0" sz="1100" spc="3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Identified</a:t>
                      </a:r>
                      <a:r>
                        <a:rPr dirty="0" sz="1100" spc="-6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4154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Brown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(2020)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“Language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Models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Few-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Shot</a:t>
                      </a:r>
                      <a:r>
                        <a:rPr dirty="0" sz="11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Learners”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(GPT-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3),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NeurIPS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225425">
                        <a:lnSpc>
                          <a:spcPct val="1157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175B-parameter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transformer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decoder, in-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context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(few-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shot)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learning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153035" marR="228600">
                        <a:lnSpc>
                          <a:spcPct val="1167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Scaled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decoder-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transformer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175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billion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parameters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evaluated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in-context, prompt-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learning.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5575" marR="142240">
                        <a:lnSpc>
                          <a:spcPct val="115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Eliminated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task-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fine-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tuning across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wide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range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dirty="0" sz="11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operations.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66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6845" marR="318770">
                        <a:lnSpc>
                          <a:spcPct val="115199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inference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interpretability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dirty="0" sz="11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scale,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plus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built-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mechanism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verifying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factual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claims.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187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160020">
                        <a:lnSpc>
                          <a:spcPct val="116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Raffel et al.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(2020)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“Exploring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Limits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 Unified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Text-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to-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Transformer”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(T5),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JMLR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151765" marR="322580">
                        <a:lnSpc>
                          <a:spcPct val="116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Unified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text-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to-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text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transformer, multi-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pretraining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170815">
                        <a:lnSpc>
                          <a:spcPct val="1157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Reformulated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every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dirty="0" sz="11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classification,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summarisation,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QA -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text-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text-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format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shared model.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164465">
                        <a:lnSpc>
                          <a:spcPct val="115199"/>
                        </a:lnSpc>
                        <a:spcBef>
                          <a:spcPts val="78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dirty="0" sz="11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benchmarks across summarisation,</a:t>
                      </a:r>
                      <a:r>
                        <a:rPr dirty="0" sz="110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inference,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generic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question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answering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unified architecture.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372110">
                        <a:lnSpc>
                          <a:spcPct val="115199"/>
                        </a:lnSpc>
                        <a:spcBef>
                          <a:spcPts val="78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computational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footprint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fine-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tuning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even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comparatively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simple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downstream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tasks.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96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4389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516890">
                        <a:lnSpc>
                          <a:spcPct val="115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Ali,</a:t>
                      </a:r>
                      <a:r>
                        <a:rPr dirty="0" sz="1100" spc="-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Azam,</a:t>
                      </a:r>
                      <a:r>
                        <a:rPr dirty="0" sz="11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Safdar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Anwar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(2022)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“NEdBOT: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NLP-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Chatbot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Administrative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Support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DialogFlow”,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ICA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226695">
                        <a:lnSpc>
                          <a:spcPct val="1167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DialogFlow,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NLP,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retrieval-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intent matching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202565">
                        <a:lnSpc>
                          <a:spcPct val="115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Built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NLP-driven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administrative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bot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 DialogFlow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platform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evaluated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admissions-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query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university.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5575" marR="226695">
                        <a:lnSpc>
                          <a:spcPct val="115199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Reported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strong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intent-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accuracy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positive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usability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scores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admission-related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administrative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queries.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60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160655">
                        <a:lnSpc>
                          <a:spcPct val="115700"/>
                        </a:lnSpc>
                        <a:spcBef>
                          <a:spcPts val="26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Confined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5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retrieval/intent-matching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paradigm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generative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LLM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component,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cannot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compose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novel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answers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hold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turn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context.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2458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149860" marR="152400">
                        <a:lnSpc>
                          <a:spcPct val="116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Ouyang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(2022)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“Training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Language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Follow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Instructions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Human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Feedback”,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NeurIPS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150495">
                        <a:lnSpc>
                          <a:spcPct val="1167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Reinforcement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Human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Feedback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(RLHF)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184785">
                        <a:lnSpc>
                          <a:spcPct val="113799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Fine-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tuned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base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LLM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reward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signals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derived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ranked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preference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data.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223520">
                        <a:lnSpc>
                          <a:spcPct val="115199"/>
                        </a:lnSpc>
                        <a:spcBef>
                          <a:spcPts val="104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Substantially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improved instruction-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following</a:t>
                      </a:r>
                      <a:r>
                        <a:rPr dirty="0" sz="11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harmful/off-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topic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outputs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versus the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un-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tuned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base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model.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7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227965">
                        <a:lnSpc>
                          <a:spcPct val="114900"/>
                        </a:lnSpc>
                        <a:spcBef>
                          <a:spcPts val="28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Alignment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tuning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trade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off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some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raw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reasoning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capability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(the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so-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called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“alignment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tax”),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factor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relevant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choosing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LLM.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4669" y="282955"/>
            <a:ext cx="2316480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65">
                <a:latin typeface="Trebuchet MS"/>
                <a:cs typeface="Trebuchet MS"/>
              </a:rPr>
              <a:t>Literature</a:t>
            </a:r>
            <a:r>
              <a:rPr dirty="0" spc="-100">
                <a:latin typeface="Trebuchet MS"/>
                <a:cs typeface="Trebuchet MS"/>
              </a:rPr>
              <a:t> </a:t>
            </a:r>
            <a:r>
              <a:rPr dirty="0" spc="-70">
                <a:latin typeface="Trebuchet MS"/>
                <a:cs typeface="Trebuchet MS"/>
              </a:rPr>
              <a:t>Review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21386" y="1104900"/>
          <a:ext cx="11625580" cy="5425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055"/>
                <a:gridCol w="2723514"/>
                <a:gridCol w="1563369"/>
                <a:gridCol w="2837179"/>
                <a:gridCol w="1922779"/>
                <a:gridCol w="1922779"/>
              </a:tblGrid>
              <a:tr h="309880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1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Reference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dirty="0" sz="1100" spc="-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Methodological</a:t>
                      </a:r>
                      <a:r>
                        <a:rPr dirty="0" sz="1100" spc="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Identified</a:t>
                      </a:r>
                      <a:r>
                        <a:rPr dirty="0" sz="1100" spc="-7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100" spc="-4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345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368935">
                        <a:lnSpc>
                          <a:spcPct val="1167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Touvron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(2023)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“LLaMA: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Open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Efficient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Foundation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Language Models”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253365">
                        <a:lnSpc>
                          <a:spcPct val="115199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Open-weight autoregressive transformer,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pre-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normalisation,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SwiGLU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activations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77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137795">
                        <a:lnSpc>
                          <a:spcPct val="1167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family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open-weight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foundation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exclusively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publicly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available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standardised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clusters.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5575" marR="140970">
                        <a:lnSpc>
                          <a:spcPct val="115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Demonstrated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smaller, well-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optimised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open-weight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rival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much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larger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proprietary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systems.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17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314960">
                        <a:lnSpc>
                          <a:spcPct val="114900"/>
                        </a:lnSpc>
                        <a:spcBef>
                          <a:spcPts val="63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foundation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checkpoints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native safety-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alignment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layer,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leaving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them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exposed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jailbreak-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style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prompts.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064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256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Jiang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(2023)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“Mistral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7B”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255270">
                        <a:lnSpc>
                          <a:spcPct val="1157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Sliding-window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attention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(SWA)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grouped-query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attention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(GQA)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153035" marR="348615">
                        <a:lnSpc>
                          <a:spcPct val="1165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attention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patterns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process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long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sequences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efficiently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lowering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requirements.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187960">
                        <a:lnSpc>
                          <a:spcPct val="115199"/>
                        </a:lnSpc>
                        <a:spcBef>
                          <a:spcPts val="106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Outperformed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several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larger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foundation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while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maintaining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inference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latency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relevant for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responsive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chat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interface.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4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6845" marR="217804">
                        <a:lnSpc>
                          <a:spcPct val="1157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Sliding-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attention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limits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recall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very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long,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document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academic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context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windows.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  <a:tr h="1256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616585">
                        <a:lnSpc>
                          <a:spcPct val="1139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Mialon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(2023)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“Augmented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dirty="0" sz="11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Models: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Survey”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156845">
                        <a:lnSpc>
                          <a:spcPct val="115700"/>
                        </a:lnSpc>
                        <a:spcBef>
                          <a:spcPts val="5"/>
                        </a:spcBef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Tool-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augmented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LLM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frameworks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(search,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calculators,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code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interpreters)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389890">
                        <a:lnSpc>
                          <a:spcPct val="116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Surveyed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mechanisms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let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LLMs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call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external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tools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engines,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calculators,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databases.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55575" marR="196215">
                        <a:lnSpc>
                          <a:spcPct val="115199"/>
                        </a:lnSpc>
                        <a:spcBef>
                          <a:spcPts val="107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Showed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external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tooling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resolves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computational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real-time-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dirty="0" sz="11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plain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LLMs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cannot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fill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alone.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58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304165">
                        <a:lnSpc>
                          <a:spcPct val="115199"/>
                        </a:lnSpc>
                        <a:spcBef>
                          <a:spcPts val="107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protocol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yet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exists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resolving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conflicting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outputs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when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external tools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called for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same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query.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58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256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295910">
                        <a:lnSpc>
                          <a:spcPct val="113799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Achiam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(2024)</a:t>
                      </a:r>
                      <a:r>
                        <a:rPr dirty="0" sz="1100" spc="3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“GPT-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Technical Report”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268605">
                        <a:lnSpc>
                          <a:spcPct val="1157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Multimodal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large-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transformer,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joint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image-and-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text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alignment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157480">
                        <a:lnSpc>
                          <a:spcPct val="1167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multimodal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encoders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process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documents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tokens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within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shared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embedding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space.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5575" marR="163195">
                        <a:lnSpc>
                          <a:spcPct val="1157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Reached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human-comparable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range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professional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academic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benchmark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exams.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723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267970">
                        <a:lnSpc>
                          <a:spcPct val="115199"/>
                        </a:lnSpc>
                        <a:spcBef>
                          <a:spcPts val="108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Substantial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opacity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around architecture,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data,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computational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limits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independent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verification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claims.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779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4669" y="282955"/>
            <a:ext cx="2316480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65">
                <a:latin typeface="Trebuchet MS"/>
                <a:cs typeface="Trebuchet MS"/>
              </a:rPr>
              <a:t>Literature</a:t>
            </a:r>
            <a:r>
              <a:rPr dirty="0" spc="-100">
                <a:latin typeface="Trebuchet MS"/>
                <a:cs typeface="Trebuchet MS"/>
              </a:rPr>
              <a:t> </a:t>
            </a:r>
            <a:r>
              <a:rPr dirty="0" spc="-70">
                <a:latin typeface="Trebuchet MS"/>
                <a:cs typeface="Trebuchet MS"/>
              </a:rPr>
              <a:t>Review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21386" y="1104900"/>
          <a:ext cx="11625580" cy="28327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7055"/>
                <a:gridCol w="2723514"/>
                <a:gridCol w="1563369"/>
                <a:gridCol w="2837179"/>
                <a:gridCol w="1922779"/>
                <a:gridCol w="1922779"/>
              </a:tblGrid>
              <a:tr h="281940"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Reference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dirty="0" sz="1100" spc="-3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Technology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Methodological</a:t>
                      </a:r>
                      <a:r>
                        <a:rPr dirty="0" sz="1100" spc="5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557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Identified</a:t>
                      </a:r>
                      <a:r>
                        <a:rPr dirty="0" sz="1100" spc="-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Gap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5879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</a:tr>
              <a:tr h="1187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447040">
                        <a:lnSpc>
                          <a:spcPct val="1165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Xie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(2025)</a:t>
                      </a:r>
                      <a:r>
                        <a:rPr dirty="0" sz="1100" spc="2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“DeepSeek-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R1: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Incentivizing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Reasoning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Capability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LLMs”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160655">
                        <a:lnSpc>
                          <a:spcPct val="1165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Reinforcement-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learning-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driven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chain-of-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thought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reasoning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284480">
                        <a:lnSpc>
                          <a:spcPct val="1165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large-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RL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without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initial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supervised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fine-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tuning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encourage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internal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self-correction.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5575" marR="343535">
                        <a:lnSpc>
                          <a:spcPct val="115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Matched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top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proprietary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math,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coding,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logic-reasoning benchmarks.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30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 marL="156845" marR="242570">
                        <a:lnSpc>
                          <a:spcPct val="115199"/>
                        </a:lnSpc>
                        <a:spcBef>
                          <a:spcPts val="77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Generates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very long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output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token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sequences,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which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inflates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inference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latency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API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chat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deployment.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77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1363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225">
                        <a:lnSpc>
                          <a:spcPct val="10000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49860" marR="193040">
                        <a:lnSpc>
                          <a:spcPct val="1167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Paszke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al.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(2019)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“PyTorch: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Imperative-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Style,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High-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Library”,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NeurIPS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1765" marR="351155">
                        <a:lnSpc>
                          <a:spcPct val="1165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Dynamic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(eager-execution)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computation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graph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3035" marR="137795">
                        <a:lnSpc>
                          <a:spcPct val="1165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Built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Python-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native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tensor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library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with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automatic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differentiation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evaluated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on-the-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fly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rather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static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graph.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5575" marR="193675">
                        <a:lnSpc>
                          <a:spcPct val="1151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Became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research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fine-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tuning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platform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transformer-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models,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including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those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this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project's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pipeline.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56845" marR="162560">
                        <a:lnSpc>
                          <a:spcPct val="115199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Historically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presented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more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deployment-optimisation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friction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than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static-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graph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frameworks,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though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gap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narrowed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time.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67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38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70"/>
              <a:t> </a:t>
            </a:r>
            <a:r>
              <a:rPr dirty="0"/>
              <a:t>Knowledge</a:t>
            </a:r>
            <a:r>
              <a:rPr dirty="0" spc="-5"/>
              <a:t> </a:t>
            </a:r>
            <a:r>
              <a:rPr dirty="0"/>
              <a:t>Base</a:t>
            </a:r>
            <a:r>
              <a:rPr dirty="0" spc="-5"/>
              <a:t> </a:t>
            </a:r>
            <a:r>
              <a:rPr dirty="0"/>
              <a:t>(Data</a:t>
            </a:r>
            <a:r>
              <a:rPr dirty="0" spc="-55"/>
              <a:t> </a:t>
            </a:r>
            <a:r>
              <a:rPr dirty="0"/>
              <a:t>Aggregation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-100"/>
              <a:t> </a:t>
            </a:r>
            <a:r>
              <a:rPr dirty="0" spc="-10"/>
              <a:t>Imputation)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8250" y="1276350"/>
            <a:ext cx="2105025" cy="5276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413255" y="1204467"/>
          <a:ext cx="9444355" cy="5350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3290"/>
                <a:gridCol w="1787525"/>
                <a:gridCol w="1787525"/>
                <a:gridCol w="1787525"/>
                <a:gridCol w="1797684"/>
              </a:tblGrid>
              <a:tr h="6394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050" spc="-2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Category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(Grouped</a:t>
                      </a:r>
                      <a:r>
                        <a:rPr dirty="0" sz="1050" spc="-4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Features)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dirty="0" sz="1050" spc="-1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Universities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ts val="123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Universities</a:t>
                      </a:r>
                      <a:r>
                        <a:rPr dirty="0" sz="1050" spc="7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050" spc="3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dirty="0" sz="1050" spc="5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Real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ts val="1230"/>
                        </a:lnSpc>
                      </a:pPr>
                      <a:r>
                        <a:rPr dirty="0" sz="1050" spc="-2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ts val="1230"/>
                        </a:lnSpc>
                        <a:tabLst>
                          <a:tab pos="1146175" algn="l"/>
                        </a:tabLst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Universities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Requiring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ts val="1230"/>
                        </a:lnSpc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Imputation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25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050" spc="-3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Authenticity</a:t>
                      </a:r>
                      <a:r>
                        <a:rPr dirty="0" sz="1050" spc="-3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(%)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2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7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ts val="1230"/>
                        </a:lnSpc>
                        <a:spcBef>
                          <a:spcPts val="5"/>
                        </a:spcBef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Identity</a:t>
                      </a:r>
                      <a:r>
                        <a:rPr dirty="0" sz="1050" spc="10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1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Geography</a:t>
                      </a:r>
                      <a:r>
                        <a:rPr dirty="0" sz="1050" spc="1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(Names,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ts val="123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City,</a:t>
                      </a:r>
                      <a:r>
                        <a:rPr dirty="0" sz="1050" spc="-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State,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URLs,</a:t>
                      </a:r>
                      <a:r>
                        <a:rPr dirty="0" sz="1050" spc="-3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Pincode,</a:t>
                      </a:r>
                      <a:r>
                        <a:rPr dirty="0" sz="1050" spc="-1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etc.)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81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300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300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dirty="0" sz="1050" spc="-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dirty="0" sz="1050" spc="-2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100%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7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ts val="123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Academic</a:t>
                      </a:r>
                      <a:r>
                        <a:rPr dirty="0" sz="1050" spc="34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37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Affiliations</a:t>
                      </a:r>
                      <a:r>
                        <a:rPr dirty="0" sz="1050" spc="38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(NIRF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ts val="123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Rank,</a:t>
                      </a:r>
                      <a:r>
                        <a:rPr dirty="0" sz="1050" spc="-2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NAAC</a:t>
                      </a:r>
                      <a:r>
                        <a:rPr dirty="0" sz="1050" spc="-4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Grade,</a:t>
                      </a:r>
                      <a:r>
                        <a:rPr dirty="0" sz="1050" spc="-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AICTE,</a:t>
                      </a:r>
                      <a:r>
                        <a:rPr dirty="0" sz="1050" spc="-4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etc.)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93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300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300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dirty="0" sz="1050" spc="-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dirty="0" sz="1050" spc="-2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100%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7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 marR="60960">
                        <a:lnSpc>
                          <a:spcPts val="1200"/>
                        </a:lnSpc>
                        <a:tabLst>
                          <a:tab pos="1112520" algn="l"/>
                          <a:tab pos="1634489" algn="l"/>
                        </a:tabLst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Infrastructure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050" spc="-2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Flags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(Hostels,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WiFi,</a:t>
                      </a:r>
                      <a:r>
                        <a:rPr dirty="0" sz="1050" spc="-2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Labs,</a:t>
                      </a:r>
                      <a:r>
                        <a:rPr dirty="0" sz="1050" spc="-5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Library,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etc.)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300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280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93.3%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7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 marR="61594">
                        <a:lnSpc>
                          <a:spcPts val="120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Financial</a:t>
                      </a:r>
                      <a:r>
                        <a:rPr dirty="0" sz="1050" spc="38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Metrics</a:t>
                      </a:r>
                      <a:r>
                        <a:rPr dirty="0" sz="1050" spc="42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(B.Tech</a:t>
                      </a:r>
                      <a:r>
                        <a:rPr dirty="0" sz="1050" spc="42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Fees,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MBA</a:t>
                      </a:r>
                      <a:r>
                        <a:rPr dirty="0" sz="1050" spc="-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Fees,</a:t>
                      </a:r>
                      <a:r>
                        <a:rPr dirty="0" sz="1050" spc="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Mess</a:t>
                      </a:r>
                      <a:r>
                        <a:rPr dirty="0" sz="1050" spc="-3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Fees,</a:t>
                      </a:r>
                      <a:r>
                        <a:rPr dirty="0" sz="1050" spc="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etc.)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300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180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120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60.0%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578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ts val="1230"/>
                        </a:lnSpc>
                        <a:tabLst>
                          <a:tab pos="894715" algn="l"/>
                          <a:tab pos="1645285" algn="l"/>
                        </a:tabLst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Placement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Statistics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(Highest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ts val="123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LPA,</a:t>
                      </a:r>
                      <a:r>
                        <a:rPr dirty="0" sz="1050" spc="-1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Median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LPA,</a:t>
                      </a:r>
                      <a:r>
                        <a:rPr dirty="0" sz="1050" spc="-1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dirty="0" sz="1050" spc="-2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Placed,</a:t>
                      </a:r>
                      <a:r>
                        <a:rPr dirty="0" sz="1050" spc="-4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etc.)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318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1120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300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2390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150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3660">
                        <a:lnSpc>
                          <a:spcPct val="100000"/>
                        </a:lnSpc>
                      </a:pP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150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493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50.0%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Overall</a:t>
                      </a:r>
                      <a:r>
                        <a:rPr dirty="0" sz="1050" spc="-6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Dataset</a:t>
                      </a:r>
                      <a:r>
                        <a:rPr dirty="0" sz="1050" spc="-2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Average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97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050" spc="-2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300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97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242</a:t>
                      </a:r>
                      <a:r>
                        <a:rPr dirty="0" sz="1050" spc="-3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(Avg)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97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58</a:t>
                      </a:r>
                      <a:r>
                        <a:rPr dirty="0" sz="1050" spc="-2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(Avg)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97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4930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80.6%</a:t>
                      </a:r>
                      <a:r>
                        <a:rPr dirty="0" sz="1050" spc="-4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Real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97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928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85"/>
              <a:t> </a:t>
            </a:r>
            <a:r>
              <a:rPr dirty="0"/>
              <a:t>Knowledge</a:t>
            </a:r>
            <a:r>
              <a:rPr dirty="0" spc="-15"/>
              <a:t> </a:t>
            </a:r>
            <a:r>
              <a:rPr dirty="0"/>
              <a:t>Base</a:t>
            </a:r>
            <a:r>
              <a:rPr dirty="0" spc="-15"/>
              <a:t> </a:t>
            </a:r>
            <a:r>
              <a:rPr dirty="0"/>
              <a:t>(Data</a:t>
            </a:r>
            <a:r>
              <a:rPr dirty="0" spc="-65"/>
              <a:t> </a:t>
            </a:r>
            <a:r>
              <a:rPr dirty="0"/>
              <a:t>Aggregation</a:t>
            </a:r>
            <a:r>
              <a:rPr dirty="0" spc="-20"/>
              <a:t> </a:t>
            </a:r>
            <a:r>
              <a:rPr dirty="0"/>
              <a:t>&amp;</a:t>
            </a:r>
            <a:r>
              <a:rPr dirty="0" spc="-110"/>
              <a:t> </a:t>
            </a:r>
            <a:r>
              <a:rPr dirty="0" spc="-10"/>
              <a:t>Imputation)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dirty="0" spc="-85"/>
              <a:t> </a:t>
            </a:r>
            <a:r>
              <a:rPr dirty="0"/>
              <a:t>Knowledge</a:t>
            </a:r>
            <a:r>
              <a:rPr dirty="0" spc="-25"/>
              <a:t> </a:t>
            </a:r>
            <a:r>
              <a:rPr dirty="0"/>
              <a:t>Base</a:t>
            </a:r>
            <a:r>
              <a:rPr dirty="0" spc="-20"/>
              <a:t> </a:t>
            </a:r>
            <a:r>
              <a:rPr dirty="0"/>
              <a:t>(Data</a:t>
            </a:r>
            <a:r>
              <a:rPr dirty="0" spc="-70"/>
              <a:t> </a:t>
            </a:r>
            <a:r>
              <a:rPr dirty="0"/>
              <a:t>Aggregation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114"/>
              <a:t> </a:t>
            </a:r>
            <a:r>
              <a:rPr dirty="0" spc="-10"/>
              <a:t>Imputation)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2112" y="1251648"/>
            <a:ext cx="11403330" cy="1398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5080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fundamental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prerequisite</a:t>
            </a:r>
            <a:r>
              <a:rPr dirty="0" sz="1500" spc="-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for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robust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RAG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architecture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is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mathematically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flawless</a:t>
            </a:r>
            <a:r>
              <a:rPr dirty="0" sz="1500" spc="-10">
                <a:latin typeface="Arial MT"/>
                <a:cs typeface="Arial MT"/>
              </a:rPr>
              <a:t> knowledge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base.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For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this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project,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50">
                <a:latin typeface="Arial MT"/>
                <a:cs typeface="Arial MT"/>
              </a:rPr>
              <a:t>a </a:t>
            </a:r>
            <a:r>
              <a:rPr dirty="0" sz="1500" spc="-10">
                <a:latin typeface="Arial MT"/>
                <a:cs typeface="Arial MT"/>
              </a:rPr>
              <a:t>proprietary</a:t>
            </a:r>
            <a:r>
              <a:rPr dirty="0" sz="1500" spc="-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dataset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300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Indian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universities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was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meticulously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curated.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While</a:t>
            </a:r>
            <a:r>
              <a:rPr dirty="0" sz="1500" spc="-1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core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identities,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geographical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locations,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and </a:t>
            </a:r>
            <a:r>
              <a:rPr dirty="0" sz="1500">
                <a:latin typeface="Arial MT"/>
                <a:cs typeface="Arial MT"/>
              </a:rPr>
              <a:t>institutional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rankings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consist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100%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real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scraped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data,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real-world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financial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is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inherently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noisy.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prevent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catastrophic</a:t>
            </a:r>
            <a:r>
              <a:rPr dirty="0" sz="1500" spc="-13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errors</a:t>
            </a:r>
            <a:r>
              <a:rPr dirty="0" sz="1500" spc="5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</a:t>
            </a:r>
            <a:r>
              <a:rPr dirty="0" sz="1500" spc="-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vector</a:t>
            </a:r>
            <a:r>
              <a:rPr dirty="0" sz="1500" spc="2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database,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hidden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financial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placement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metrics</a:t>
            </a:r>
            <a:r>
              <a:rPr dirty="0" sz="1500" spc="-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were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statistically</a:t>
            </a:r>
            <a:r>
              <a:rPr dirty="0" sz="1500" spc="-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imputed</a:t>
            </a:r>
            <a:r>
              <a:rPr dirty="0" sz="1500" spc="-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based</a:t>
            </a:r>
            <a:r>
              <a:rPr dirty="0" sz="1500" spc="-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on</a:t>
            </a:r>
            <a:r>
              <a:rPr dirty="0" sz="1500" spc="-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college</a:t>
            </a:r>
            <a:r>
              <a:rPr dirty="0" sz="1500" spc="-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tier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region.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20">
                <a:latin typeface="Arial MT"/>
                <a:cs typeface="Arial MT"/>
              </a:rPr>
              <a:t>This </a:t>
            </a:r>
            <a:r>
              <a:rPr dirty="0" sz="1500">
                <a:latin typeface="Arial MT"/>
                <a:cs typeface="Arial MT"/>
              </a:rPr>
              <a:t>hybrid</a:t>
            </a:r>
            <a:r>
              <a:rPr dirty="0" sz="1500" spc="-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methodology </a:t>
            </a:r>
            <a:r>
              <a:rPr dirty="0" sz="1500" spc="-10">
                <a:latin typeface="Arial MT"/>
                <a:cs typeface="Arial MT"/>
              </a:rPr>
              <a:t>successfully</a:t>
            </a:r>
            <a:r>
              <a:rPr dirty="0" sz="1500" spc="-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generated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mathematically</a:t>
            </a:r>
            <a:r>
              <a:rPr dirty="0" sz="1500">
                <a:latin typeface="Arial MT"/>
                <a:cs typeface="Arial MT"/>
              </a:rPr>
              <a:t> complete,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18,000-cell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density matrix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capable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handling</a:t>
            </a:r>
            <a:r>
              <a:rPr dirty="0" sz="1500" spc="-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any</a:t>
            </a:r>
            <a:r>
              <a:rPr dirty="0" sz="1500" spc="-7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complex </a:t>
            </a:r>
            <a:r>
              <a:rPr dirty="0" sz="1500">
                <a:latin typeface="Arial MT"/>
                <a:cs typeface="Arial MT"/>
              </a:rPr>
              <a:t>student</a:t>
            </a:r>
            <a:r>
              <a:rPr dirty="0" sz="1500" spc="-7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query.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5430">
              <a:lnSpc>
                <a:spcPct val="100000"/>
              </a:lnSpc>
              <a:spcBef>
                <a:spcPts val="100"/>
              </a:spcBef>
            </a:pPr>
            <a:r>
              <a:rPr dirty="0" spc="-114">
                <a:latin typeface="Trebuchet MS"/>
                <a:cs typeface="Trebuchet MS"/>
              </a:rPr>
              <a:t>The</a:t>
            </a:r>
            <a:r>
              <a:rPr dirty="0" spc="-215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RAG</a:t>
            </a:r>
            <a:r>
              <a:rPr dirty="0" spc="-140">
                <a:latin typeface="Trebuchet MS"/>
                <a:cs typeface="Trebuchet MS"/>
              </a:rPr>
              <a:t> </a:t>
            </a:r>
            <a:r>
              <a:rPr dirty="0" spc="-65">
                <a:latin typeface="Trebuchet MS"/>
                <a:cs typeface="Trebuchet MS"/>
              </a:rPr>
              <a:t>Architecture</a:t>
            </a:r>
            <a:r>
              <a:rPr dirty="0" spc="-125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Methodology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81525" y="1078991"/>
            <a:ext cx="2966974" cy="55980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58750">
              <a:lnSpc>
                <a:spcPct val="100000"/>
              </a:lnSpc>
              <a:spcBef>
                <a:spcPts val="105"/>
              </a:spcBef>
            </a:pPr>
            <a:r>
              <a:rPr dirty="0" spc="-114">
                <a:latin typeface="Trebuchet MS"/>
                <a:cs typeface="Trebuchet MS"/>
              </a:rPr>
              <a:t>The</a:t>
            </a:r>
            <a:r>
              <a:rPr dirty="0" spc="-204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RAG</a:t>
            </a:r>
            <a:r>
              <a:rPr dirty="0" spc="-135">
                <a:latin typeface="Trebuchet MS"/>
                <a:cs typeface="Trebuchet MS"/>
              </a:rPr>
              <a:t> </a:t>
            </a:r>
            <a:r>
              <a:rPr dirty="0" spc="-65">
                <a:latin typeface="Trebuchet MS"/>
                <a:cs typeface="Trebuchet MS"/>
              </a:rPr>
              <a:t>Architecture</a:t>
            </a:r>
            <a:r>
              <a:rPr dirty="0" spc="-125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634" y="1262062"/>
            <a:ext cx="11215370" cy="1398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5275" marR="5080" indent="-28321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2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resolve</a:t>
            </a:r>
            <a:r>
              <a:rPr dirty="0" sz="1500" spc="2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254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hallucination</a:t>
            </a:r>
            <a:r>
              <a:rPr dirty="0" sz="1500" spc="2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crisis</a:t>
            </a:r>
            <a:r>
              <a:rPr dirty="0" sz="1500" spc="254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without</a:t>
            </a:r>
            <a:r>
              <a:rPr dirty="0" sz="1500" spc="2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sacrificing</a:t>
            </a:r>
            <a:r>
              <a:rPr dirty="0" sz="1500" spc="2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254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linguistic</a:t>
            </a:r>
            <a:r>
              <a:rPr dirty="0" sz="1500" spc="2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flexibility</a:t>
            </a:r>
            <a:r>
              <a:rPr dirty="0" sz="1500" spc="2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2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modern</a:t>
            </a:r>
            <a:r>
              <a:rPr dirty="0" sz="1500" spc="2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AI,</a:t>
            </a:r>
            <a:r>
              <a:rPr dirty="0" sz="1500" spc="254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this</a:t>
            </a:r>
            <a:r>
              <a:rPr dirty="0" sz="1500" spc="2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project</a:t>
            </a:r>
            <a:r>
              <a:rPr dirty="0" sz="1500" spc="254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deployed</a:t>
            </a:r>
            <a:r>
              <a:rPr dirty="0" sz="1500" spc="2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27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localized 	Retrieval-</a:t>
            </a:r>
            <a:r>
              <a:rPr dirty="0" sz="1500">
                <a:latin typeface="Arial MT"/>
                <a:cs typeface="Arial MT"/>
              </a:rPr>
              <a:t>Augmented</a:t>
            </a:r>
            <a:r>
              <a:rPr dirty="0" sz="1500" spc="1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Generation</a:t>
            </a:r>
            <a:r>
              <a:rPr dirty="0" sz="1500" spc="1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(RAG)</a:t>
            </a:r>
            <a:r>
              <a:rPr dirty="0" sz="1500" spc="1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architecture.</a:t>
            </a:r>
            <a:r>
              <a:rPr dirty="0" sz="1500" spc="1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RAG</a:t>
            </a:r>
            <a:r>
              <a:rPr dirty="0" sz="1500" spc="1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fundamentally</a:t>
            </a:r>
            <a:r>
              <a:rPr dirty="0" sz="1500" spc="1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decouples</a:t>
            </a:r>
            <a:r>
              <a:rPr dirty="0" sz="1500" spc="1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knowledge</a:t>
            </a:r>
            <a:r>
              <a:rPr dirty="0" sz="1500" spc="1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storage</a:t>
            </a:r>
            <a:r>
              <a:rPr dirty="0" sz="1500" spc="1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from</a:t>
            </a:r>
            <a:r>
              <a:rPr dirty="0" sz="1500" spc="1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text</a:t>
            </a:r>
            <a:r>
              <a:rPr dirty="0" sz="1500" spc="14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generation.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For</a:t>
            </a:r>
            <a:r>
              <a:rPr dirty="0" sz="1500" spc="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generative</a:t>
            </a:r>
            <a:r>
              <a:rPr dirty="0" sz="1500" spc="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engine,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1.5-</a:t>
            </a:r>
            <a:r>
              <a:rPr dirty="0" sz="1500">
                <a:latin typeface="Arial MT"/>
                <a:cs typeface="Arial MT"/>
              </a:rPr>
              <a:t>Billion</a:t>
            </a:r>
            <a:r>
              <a:rPr dirty="0" sz="1500" spc="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parameter</a:t>
            </a:r>
            <a:r>
              <a:rPr dirty="0" sz="1500" spc="3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Qwen2.5-</a:t>
            </a:r>
            <a:r>
              <a:rPr dirty="0" sz="1500">
                <a:latin typeface="Arial MT"/>
                <a:cs typeface="Arial MT"/>
              </a:rPr>
              <a:t>Instruct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model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was</a:t>
            </a:r>
            <a:r>
              <a:rPr dirty="0" sz="1500" spc="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deployed</a:t>
            </a:r>
            <a:r>
              <a:rPr dirty="0" sz="1500" spc="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locally,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mathematically</a:t>
            </a:r>
            <a:r>
              <a:rPr dirty="0" sz="1500" spc="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quantized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to </a:t>
            </a:r>
            <a:r>
              <a:rPr dirty="0" sz="1500" spc="-25">
                <a:latin typeface="Arial MT"/>
                <a:cs typeface="Arial MT"/>
              </a:rPr>
              <a:t>	</a:t>
            </a:r>
            <a:r>
              <a:rPr dirty="0" sz="1500" spc="-10">
                <a:latin typeface="Arial MT"/>
                <a:cs typeface="Arial MT"/>
              </a:rPr>
              <a:t>16-</a:t>
            </a:r>
            <a:r>
              <a:rPr dirty="0" sz="1500">
                <a:latin typeface="Arial MT"/>
                <a:cs typeface="Arial MT"/>
              </a:rPr>
              <a:t>bit</a:t>
            </a:r>
            <a:r>
              <a:rPr dirty="0" sz="1500" spc="4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precision.</a:t>
            </a:r>
            <a:r>
              <a:rPr dirty="0" sz="1500" spc="4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4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enforce</a:t>
            </a:r>
            <a:r>
              <a:rPr dirty="0" sz="1500" spc="4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484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strict</a:t>
            </a:r>
            <a:r>
              <a:rPr dirty="0" sz="1500" spc="45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zero-</a:t>
            </a:r>
            <a:r>
              <a:rPr dirty="0" sz="1500">
                <a:latin typeface="Arial MT"/>
                <a:cs typeface="Arial MT"/>
              </a:rPr>
              <a:t>hallucination</a:t>
            </a:r>
            <a:r>
              <a:rPr dirty="0" sz="1500" spc="4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boundary,</a:t>
            </a:r>
            <a:r>
              <a:rPr dirty="0" sz="1500" spc="459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459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LLM’s</a:t>
            </a:r>
            <a:r>
              <a:rPr dirty="0" sz="1500" spc="4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probabilistic</a:t>
            </a:r>
            <a:r>
              <a:rPr dirty="0" sz="1500" spc="4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sampling</a:t>
            </a:r>
            <a:r>
              <a:rPr dirty="0" sz="1500" spc="45">
                <a:latin typeface="Arial MT"/>
                <a:cs typeface="Arial MT"/>
              </a:rPr>
              <a:t>  </a:t>
            </a:r>
            <a:r>
              <a:rPr dirty="0" sz="1500">
                <a:latin typeface="Arial MT"/>
                <a:cs typeface="Arial MT"/>
              </a:rPr>
              <a:t>was</a:t>
            </a:r>
            <a:r>
              <a:rPr dirty="0" sz="1500" spc="459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entirely</a:t>
            </a:r>
            <a:r>
              <a:rPr dirty="0" sz="1500" spc="46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disabled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(do_sample=False).</a:t>
            </a:r>
            <a:r>
              <a:rPr dirty="0" sz="1500" spc="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This</a:t>
            </a:r>
            <a:r>
              <a:rPr dirty="0" sz="1500" spc="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forced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model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 act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not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as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creative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writer,</a:t>
            </a:r>
            <a:r>
              <a:rPr dirty="0" sz="1500" spc="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but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exclusively</a:t>
            </a:r>
            <a:r>
              <a:rPr dirty="0" sz="1500" spc="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as</a:t>
            </a:r>
            <a:r>
              <a:rPr dirty="0" sz="1500" spc="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deterministic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text-</a:t>
            </a:r>
            <a:r>
              <a:rPr dirty="0" sz="1500">
                <a:latin typeface="Arial MT"/>
                <a:cs typeface="Arial MT"/>
              </a:rPr>
              <a:t>formatter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for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the </a:t>
            </a:r>
            <a:r>
              <a:rPr dirty="0" sz="1500" spc="-25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retrieved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factual</a:t>
            </a:r>
            <a:r>
              <a:rPr dirty="0" sz="1500" spc="-7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data.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0167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dirty="0"/>
              <a:t>Semantic</a:t>
            </a:r>
            <a:r>
              <a:rPr dirty="0" spc="-45"/>
              <a:t> </a:t>
            </a:r>
            <a:r>
              <a:rPr dirty="0"/>
              <a:t>Retrieval</a:t>
            </a:r>
            <a:r>
              <a:rPr dirty="0" spc="-70"/>
              <a:t> </a:t>
            </a:r>
            <a:r>
              <a:rPr dirty="0"/>
              <a:t>via</a:t>
            </a:r>
            <a:r>
              <a:rPr dirty="0" spc="-70"/>
              <a:t> </a:t>
            </a:r>
            <a:r>
              <a:rPr dirty="0"/>
              <a:t>FAISS</a:t>
            </a:r>
            <a:r>
              <a:rPr dirty="0" spc="-20"/>
              <a:t> </a:t>
            </a:r>
            <a:r>
              <a:rPr dirty="0"/>
              <a:t>Vector</a:t>
            </a:r>
            <a:r>
              <a:rPr dirty="0" spc="-45"/>
              <a:t> </a:t>
            </a:r>
            <a:r>
              <a:rPr dirty="0" spc="-10"/>
              <a:t>Space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4625" y="1085850"/>
            <a:ext cx="6753225" cy="55149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2729">
              <a:lnSpc>
                <a:spcPct val="100000"/>
              </a:lnSpc>
              <a:spcBef>
                <a:spcPts val="100"/>
              </a:spcBef>
            </a:pPr>
            <a:r>
              <a:rPr dirty="0"/>
              <a:t>Semantic</a:t>
            </a:r>
            <a:r>
              <a:rPr dirty="0" spc="-55"/>
              <a:t> </a:t>
            </a:r>
            <a:r>
              <a:rPr dirty="0"/>
              <a:t>Retrieval</a:t>
            </a:r>
            <a:r>
              <a:rPr dirty="0" spc="-85"/>
              <a:t> </a:t>
            </a:r>
            <a:r>
              <a:rPr dirty="0"/>
              <a:t>via</a:t>
            </a:r>
            <a:r>
              <a:rPr dirty="0" spc="-80"/>
              <a:t> </a:t>
            </a:r>
            <a:r>
              <a:rPr dirty="0"/>
              <a:t>FAISS</a:t>
            </a:r>
            <a:r>
              <a:rPr dirty="0" spc="-40"/>
              <a:t> </a:t>
            </a:r>
            <a:r>
              <a:rPr dirty="0"/>
              <a:t>Vector</a:t>
            </a:r>
            <a:r>
              <a:rPr dirty="0" spc="-55"/>
              <a:t> </a:t>
            </a:r>
            <a:r>
              <a:rPr dirty="0" spc="-10"/>
              <a:t>Space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634" y="1262062"/>
            <a:ext cx="11210925" cy="1170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5275" marR="5080" indent="-28321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dirty="0" sz="1500">
                <a:latin typeface="Arial MT"/>
                <a:cs typeface="Arial MT"/>
              </a:rPr>
              <a:t>Traditional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SQL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databases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require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exact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keyword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matching, which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fails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when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students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use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colloquial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terminology.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10">
                <a:latin typeface="Arial MT"/>
                <a:cs typeface="Arial MT"/>
              </a:rPr>
              <a:t> circumvent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this, the </a:t>
            </a:r>
            <a:r>
              <a:rPr dirty="0" sz="1500" spc="-10">
                <a:latin typeface="Arial MT"/>
                <a:cs typeface="Arial MT"/>
              </a:rPr>
              <a:t>all-MiniLM-L6-</a:t>
            </a:r>
            <a:r>
              <a:rPr dirty="0" sz="1500">
                <a:latin typeface="Arial MT"/>
                <a:cs typeface="Arial MT"/>
              </a:rPr>
              <a:t>v2 semantic embedding model was utilized to map the entire </a:t>
            </a:r>
            <a:r>
              <a:rPr dirty="0" sz="1500" spc="-10">
                <a:latin typeface="Arial MT"/>
                <a:cs typeface="Arial MT"/>
              </a:rPr>
              <a:t>18,000-</a:t>
            </a:r>
            <a:r>
              <a:rPr dirty="0" sz="1500">
                <a:latin typeface="Arial MT"/>
                <a:cs typeface="Arial MT"/>
              </a:rPr>
              <a:t>cell dataset into a dense, </a:t>
            </a:r>
            <a:r>
              <a:rPr dirty="0" sz="1500" spc="-20">
                <a:latin typeface="Arial MT"/>
                <a:cs typeface="Arial MT"/>
              </a:rPr>
              <a:t>384-</a:t>
            </a:r>
            <a:r>
              <a:rPr dirty="0" sz="1500" spc="-2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dimensional</a:t>
            </a:r>
            <a:r>
              <a:rPr dirty="0" sz="1500" spc="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vector</a:t>
            </a:r>
            <a:r>
              <a:rPr dirty="0" sz="1500" spc="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space.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By</a:t>
            </a:r>
            <a:r>
              <a:rPr dirty="0" sz="1500" spc="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integrating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Facebook</a:t>
            </a:r>
            <a:r>
              <a:rPr dirty="0" sz="1500" spc="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AI</a:t>
            </a:r>
            <a:r>
              <a:rPr dirty="0" sz="1500" spc="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Similarity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Search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(FAISS),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system</a:t>
            </a:r>
            <a:r>
              <a:rPr dirty="0" sz="1500" spc="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performs</a:t>
            </a:r>
            <a:r>
              <a:rPr dirty="0" sz="1500" spc="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rapid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Euclidean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distance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calculations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(L2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Norm).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This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allows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architecture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instantly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match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colloquial conversational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queries,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such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as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"cheap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colleges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in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Gujarat,"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exact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numerical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tuition values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stored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mathematical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vector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space.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543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rebuchet MS"/>
                <a:cs typeface="Trebuchet MS"/>
              </a:rPr>
              <a:t>System </a:t>
            </a:r>
            <a:r>
              <a:rPr dirty="0" spc="-10">
                <a:latin typeface="Trebuchet MS"/>
                <a:cs typeface="Trebuchet MS"/>
              </a:rPr>
              <a:t>Demonstration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50" y="1314450"/>
            <a:ext cx="10629900" cy="50196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1820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rebuchet MS"/>
                <a:cs typeface="Trebuchet MS"/>
              </a:rPr>
              <a:t>System </a:t>
            </a:r>
            <a:r>
              <a:rPr dirty="0" spc="-10">
                <a:latin typeface="Trebuchet MS"/>
                <a:cs typeface="Trebuchet MS"/>
              </a:rPr>
              <a:t>Demonstration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797" y="1175448"/>
            <a:ext cx="10948035" cy="1170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5275" marR="5080" indent="-28321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backend</a:t>
            </a:r>
            <a:r>
              <a:rPr dirty="0" sz="1500" spc="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Python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architecture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was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successfully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linked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highly responsive,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accessible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web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portal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built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upon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Gradio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framework.</a:t>
            </a:r>
            <a:r>
              <a:rPr dirty="0" sz="1500" spc="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This</a:t>
            </a:r>
            <a:r>
              <a:rPr dirty="0" sz="1500" spc="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user</a:t>
            </a:r>
            <a:r>
              <a:rPr dirty="0" sz="1500" spc="1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interface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allows</a:t>
            </a:r>
            <a:r>
              <a:rPr dirty="0" sz="1500" spc="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students</a:t>
            </a:r>
            <a:r>
              <a:rPr dirty="0" sz="1500" spc="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interact</a:t>
            </a:r>
            <a:r>
              <a:rPr dirty="0" sz="1500" spc="1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with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complex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FAISS</a:t>
            </a:r>
            <a:r>
              <a:rPr dirty="0" sz="1500" spc="1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database</a:t>
            </a:r>
            <a:r>
              <a:rPr dirty="0" sz="1500" spc="1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using</a:t>
            </a:r>
            <a:r>
              <a:rPr dirty="0" sz="1500" spc="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simple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natural</a:t>
            </a:r>
            <a:r>
              <a:rPr dirty="0" sz="1500" spc="7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language.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As</a:t>
            </a:r>
            <a:r>
              <a:rPr dirty="0" sz="1500" spc="3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demonstrated</a:t>
            </a:r>
            <a:r>
              <a:rPr dirty="0" sz="1500" spc="3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</a:t>
            </a:r>
            <a:r>
              <a:rPr dirty="0" sz="1500" spc="2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3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interface,</a:t>
            </a:r>
            <a:r>
              <a:rPr dirty="0" sz="1500" spc="2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3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strict</a:t>
            </a:r>
            <a:r>
              <a:rPr dirty="0" sz="1500" spc="2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prompt</a:t>
            </a:r>
            <a:r>
              <a:rPr dirty="0" sz="1500" spc="3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guardrails</a:t>
            </a:r>
            <a:r>
              <a:rPr dirty="0" sz="1500" spc="3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successfully</a:t>
            </a:r>
            <a:r>
              <a:rPr dirty="0" sz="1500" spc="3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intercept</a:t>
            </a:r>
            <a:r>
              <a:rPr dirty="0" sz="1500" spc="3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3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user's</a:t>
            </a:r>
            <a:r>
              <a:rPr dirty="0" sz="1500" spc="3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query</a:t>
            </a:r>
            <a:r>
              <a:rPr dirty="0" sz="1500" spc="3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and</a:t>
            </a:r>
            <a:r>
              <a:rPr dirty="0" sz="1500" spc="3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output</a:t>
            </a:r>
            <a:r>
              <a:rPr dirty="0" sz="1500" spc="32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highly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formatted,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factual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responses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derived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exclusively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from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injected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CSV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database,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while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seamlessly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issuing</a:t>
            </a:r>
            <a:r>
              <a:rPr dirty="0" sz="1500" spc="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safety</a:t>
            </a:r>
            <a:r>
              <a:rPr dirty="0" sz="1500" spc="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refusals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for </a:t>
            </a:r>
            <a:r>
              <a:rPr dirty="0" sz="1500" spc="-25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unverified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out-of-</a:t>
            </a:r>
            <a:r>
              <a:rPr dirty="0" sz="1500">
                <a:latin typeface="Arial MT"/>
                <a:cs typeface="Arial MT"/>
              </a:rPr>
              <a:t>domain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questions.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63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dirty="0" spc="-55">
                <a:latin typeface="Trebuchet MS"/>
                <a:cs typeface="Trebuchet MS"/>
              </a:rPr>
              <a:t>Quantitative</a:t>
            </a:r>
            <a:r>
              <a:rPr dirty="0" spc="-200">
                <a:latin typeface="Trebuchet MS"/>
                <a:cs typeface="Trebuchet MS"/>
              </a:rPr>
              <a:t> </a:t>
            </a:r>
            <a:r>
              <a:rPr dirty="0" spc="-30">
                <a:latin typeface="Trebuchet MS"/>
                <a:cs typeface="Trebuchet MS"/>
              </a:rPr>
              <a:t>Evaluation</a:t>
            </a:r>
            <a:r>
              <a:rPr dirty="0" spc="-185">
                <a:latin typeface="Trebuchet MS"/>
                <a:cs typeface="Trebuchet MS"/>
              </a:rPr>
              <a:t> </a:t>
            </a:r>
            <a:r>
              <a:rPr dirty="0" spc="580">
                <a:latin typeface="Trebuchet MS"/>
                <a:cs typeface="Trebuchet MS"/>
              </a:rPr>
              <a:t>s</a:t>
            </a:r>
            <a:r>
              <a:rPr dirty="0" spc="-190">
                <a:latin typeface="Trebuchet MS"/>
                <a:cs typeface="Trebuchet MS"/>
              </a:rPr>
              <a:t> </a:t>
            </a:r>
            <a:r>
              <a:rPr dirty="0" spc="35">
                <a:latin typeface="Trebuchet MS"/>
                <a:cs typeface="Trebuchet MS"/>
              </a:rPr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6900" y="1190625"/>
            <a:ext cx="8458200" cy="54673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63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0"/>
              </a:spcBef>
            </a:pPr>
            <a:r>
              <a:rPr dirty="0" spc="-55">
                <a:latin typeface="Trebuchet MS"/>
                <a:cs typeface="Trebuchet MS"/>
              </a:rPr>
              <a:t>Quantitative</a:t>
            </a:r>
            <a:r>
              <a:rPr dirty="0" spc="-200">
                <a:latin typeface="Trebuchet MS"/>
                <a:cs typeface="Trebuchet MS"/>
              </a:rPr>
              <a:t> </a:t>
            </a:r>
            <a:r>
              <a:rPr dirty="0" spc="-30">
                <a:latin typeface="Trebuchet MS"/>
                <a:cs typeface="Trebuchet MS"/>
              </a:rPr>
              <a:t>Evaluation</a:t>
            </a:r>
            <a:r>
              <a:rPr dirty="0" spc="-185">
                <a:latin typeface="Trebuchet MS"/>
                <a:cs typeface="Trebuchet MS"/>
              </a:rPr>
              <a:t> </a:t>
            </a:r>
            <a:r>
              <a:rPr dirty="0" spc="580">
                <a:latin typeface="Trebuchet MS"/>
                <a:cs typeface="Trebuchet MS"/>
              </a:rPr>
              <a:t>s</a:t>
            </a:r>
            <a:r>
              <a:rPr dirty="0" spc="-190">
                <a:latin typeface="Trebuchet MS"/>
                <a:cs typeface="Trebuchet MS"/>
              </a:rPr>
              <a:t> </a:t>
            </a:r>
            <a:r>
              <a:rPr dirty="0" spc="35">
                <a:latin typeface="Trebuchet MS"/>
                <a:cs typeface="Trebuchet MS"/>
              </a:rPr>
              <a:t>Results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8793" y="1319275"/>
          <a:ext cx="10149840" cy="5125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53435"/>
                <a:gridCol w="3353435"/>
                <a:gridCol w="3354704"/>
              </a:tblGrid>
              <a:tr h="556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64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dirty="0" sz="1050" spc="-4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Metric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95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dirty="0" sz="1050" spc="-3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(%)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321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Definition</a:t>
                      </a:r>
                      <a:r>
                        <a:rPr dirty="0" sz="1050" spc="-2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050" spc="-3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Context</a:t>
                      </a:r>
                      <a:r>
                        <a:rPr dirty="0" sz="1050" spc="-3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50" spc="-3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RAG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1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6415">
                        <a:lnSpc>
                          <a:spcPct val="10000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System</a:t>
                      </a:r>
                      <a:r>
                        <a:rPr dirty="0" sz="1050" spc="-4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Accuracy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959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98.68%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32130">
                        <a:lnSpc>
                          <a:spcPts val="1230"/>
                        </a:lnSpc>
                        <a:spcBef>
                          <a:spcPts val="5"/>
                        </a:spcBef>
                      </a:pP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Percentage</a:t>
                      </a:r>
                      <a:r>
                        <a:rPr dirty="0" sz="1050" spc="459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50" spc="46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dirty="0" sz="1050" spc="4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queries</a:t>
                      </a:r>
                      <a:r>
                        <a:rPr dirty="0" sz="1050" spc="45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answered</a:t>
                      </a:r>
                      <a:r>
                        <a:rPr dirty="0" sz="1050" spc="45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correctly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32130">
                        <a:lnSpc>
                          <a:spcPts val="1230"/>
                        </a:lnSpc>
                      </a:pP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dirty="0" sz="1050" spc="-2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hallucination.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17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64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Precision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95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98.68%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32130" marR="50800">
                        <a:lnSpc>
                          <a:spcPts val="1200"/>
                        </a:lnSpc>
                      </a:pP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Ratio</a:t>
                      </a:r>
                      <a:r>
                        <a:rPr dirty="0" sz="1050" spc="8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50" spc="7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correct</a:t>
                      </a:r>
                      <a:r>
                        <a:rPr dirty="0" sz="1050" spc="6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factual</a:t>
                      </a:r>
                      <a:r>
                        <a:rPr dirty="0" sz="1050" spc="6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answers</a:t>
                      </a:r>
                      <a:r>
                        <a:rPr dirty="0" sz="1050" spc="5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dirty="0" sz="1050" spc="6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50" spc="7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dirty="0" sz="1050" spc="6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answers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LLM</a:t>
                      </a:r>
                      <a:r>
                        <a:rPr dirty="0" sz="1050" spc="-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attempted.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2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6415">
                        <a:lnSpc>
                          <a:spcPct val="10000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Recall</a:t>
                      </a:r>
                      <a:r>
                        <a:rPr dirty="0" sz="1050" spc="-4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(Retrieval)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959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100.00%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32130" marR="48895">
                        <a:lnSpc>
                          <a:spcPts val="1200"/>
                        </a:lnSpc>
                        <a:spcBef>
                          <a:spcPts val="5"/>
                        </a:spcBef>
                      </a:pP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Ability</a:t>
                      </a:r>
                      <a:r>
                        <a:rPr dirty="0" sz="1050" spc="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50" spc="8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50" spc="7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FAISS</a:t>
                      </a:r>
                      <a:r>
                        <a:rPr dirty="0" sz="1050" spc="5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database</a:t>
                      </a:r>
                      <a:r>
                        <a:rPr dirty="0" sz="1050" spc="7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050" spc="7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successfully</a:t>
                      </a:r>
                      <a:r>
                        <a:rPr dirty="0" sz="1050" spc="114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find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50" spc="-3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correct</a:t>
                      </a:r>
                      <a:r>
                        <a:rPr dirty="0" sz="1050" spc="-3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context.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142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64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F1-Score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95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99.34%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32130" marR="48895">
                        <a:lnSpc>
                          <a:spcPts val="1200"/>
                        </a:lnSpc>
                      </a:pP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050" spc="46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harmonic</a:t>
                      </a:r>
                      <a:r>
                        <a:rPr dirty="0" sz="1050" spc="47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dirty="0" sz="1050" spc="13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050" spc="12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Precision</a:t>
                      </a:r>
                      <a:r>
                        <a:rPr dirty="0" sz="1050" spc="12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050" spc="13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Recall,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proving</a:t>
                      </a:r>
                      <a:r>
                        <a:rPr dirty="0" sz="1050" spc="-4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robustness.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9918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00"/>
              </a:spcBef>
            </a:pPr>
            <a:r>
              <a:rPr dirty="0" spc="-55">
                <a:latin typeface="Trebuchet MS"/>
                <a:cs typeface="Trebuchet MS"/>
              </a:rPr>
              <a:t>Quantitative</a:t>
            </a:r>
            <a:r>
              <a:rPr dirty="0" spc="-200">
                <a:latin typeface="Trebuchet MS"/>
                <a:cs typeface="Trebuchet MS"/>
              </a:rPr>
              <a:t> </a:t>
            </a:r>
            <a:r>
              <a:rPr dirty="0" spc="-30">
                <a:latin typeface="Trebuchet MS"/>
                <a:cs typeface="Trebuchet MS"/>
              </a:rPr>
              <a:t>Evaluation</a:t>
            </a:r>
            <a:r>
              <a:rPr dirty="0" spc="-185">
                <a:latin typeface="Trebuchet MS"/>
                <a:cs typeface="Trebuchet MS"/>
              </a:rPr>
              <a:t> </a:t>
            </a:r>
            <a:r>
              <a:rPr dirty="0" spc="580">
                <a:latin typeface="Trebuchet MS"/>
                <a:cs typeface="Trebuchet MS"/>
              </a:rPr>
              <a:t>s</a:t>
            </a:r>
            <a:r>
              <a:rPr dirty="0" spc="-190">
                <a:latin typeface="Trebuchet MS"/>
                <a:cs typeface="Trebuchet MS"/>
              </a:rPr>
              <a:t> </a:t>
            </a:r>
            <a:r>
              <a:rPr dirty="0" spc="35">
                <a:latin typeface="Trebuchet MS"/>
                <a:cs typeface="Trebuchet MS"/>
              </a:rPr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797" y="1175448"/>
            <a:ext cx="10947400" cy="1170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5275" marR="5080" indent="-28321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1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move</a:t>
            </a:r>
            <a:r>
              <a:rPr dirty="0" sz="1500" spc="1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beyond</a:t>
            </a:r>
            <a:r>
              <a:rPr dirty="0" sz="1500" spc="1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anecdotal</a:t>
            </a:r>
            <a:r>
              <a:rPr dirty="0" sz="1500" spc="1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observation,</a:t>
            </a:r>
            <a:r>
              <a:rPr dirty="0" sz="1500" spc="1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1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system</a:t>
            </a:r>
            <a:r>
              <a:rPr dirty="0" sz="1500" spc="1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was</a:t>
            </a:r>
            <a:r>
              <a:rPr dirty="0" sz="1500" spc="1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subjected</a:t>
            </a:r>
            <a:r>
              <a:rPr dirty="0" sz="1500" spc="1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1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rigorous</a:t>
            </a:r>
            <a:r>
              <a:rPr dirty="0" sz="1500" spc="1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mathematical</a:t>
            </a:r>
            <a:r>
              <a:rPr dirty="0" sz="1500" spc="1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evaluation</a:t>
            </a:r>
            <a:r>
              <a:rPr dirty="0" sz="1500" spc="1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via</a:t>
            </a:r>
            <a:r>
              <a:rPr dirty="0" sz="1500" spc="1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</a:t>
            </a:r>
            <a:r>
              <a:rPr dirty="0" sz="1500" spc="19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automated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Python</a:t>
            </a:r>
            <a:r>
              <a:rPr dirty="0" sz="1500" spc="114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script,</a:t>
            </a:r>
            <a:r>
              <a:rPr dirty="0" sz="1500" spc="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processing</a:t>
            </a:r>
            <a:r>
              <a:rPr dirty="0" sz="1500" spc="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1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standardized</a:t>
            </a:r>
            <a:r>
              <a:rPr dirty="0" sz="1500" spc="9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1,500-</a:t>
            </a:r>
            <a:r>
              <a:rPr dirty="0" sz="1500">
                <a:latin typeface="Arial MT"/>
                <a:cs typeface="Arial MT"/>
              </a:rPr>
              <a:t>question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testing</a:t>
            </a:r>
            <a:r>
              <a:rPr dirty="0" sz="1500" spc="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suite.</a:t>
            </a:r>
            <a:r>
              <a:rPr dirty="0" sz="1500" spc="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1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quantitative</a:t>
            </a:r>
            <a:r>
              <a:rPr dirty="0" sz="1500" spc="1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results</a:t>
            </a:r>
            <a:r>
              <a:rPr dirty="0" sz="1500" spc="1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were</a:t>
            </a:r>
            <a:r>
              <a:rPr dirty="0" sz="1500" spc="1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exceptional:</a:t>
            </a:r>
            <a:r>
              <a:rPr dirty="0" sz="1500" spc="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FAISS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semantic</a:t>
            </a:r>
            <a:r>
              <a:rPr dirty="0" sz="1500" spc="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database</a:t>
            </a:r>
            <a:r>
              <a:rPr dirty="0" sz="1500" spc="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achieved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flawless</a:t>
            </a:r>
            <a:r>
              <a:rPr dirty="0" sz="1500" spc="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100.00%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Retrieval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Recall,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successfully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pulling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correct</a:t>
            </a:r>
            <a:r>
              <a:rPr dirty="0" sz="1500" spc="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institutional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for</a:t>
            </a:r>
            <a:r>
              <a:rPr dirty="0" sz="1500" spc="3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every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valid</a:t>
            </a:r>
            <a:r>
              <a:rPr dirty="0" sz="1500" spc="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query.</a:t>
            </a:r>
            <a:r>
              <a:rPr dirty="0" sz="1500" spc="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Consequently,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LLM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achieved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Generation</a:t>
            </a:r>
            <a:r>
              <a:rPr dirty="0" sz="1500" spc="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Precision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98.68%,</a:t>
            </a:r>
            <a:r>
              <a:rPr dirty="0" sz="1500" spc="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culminating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 an</a:t>
            </a:r>
            <a:r>
              <a:rPr dirty="0" sz="1500" spc="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unprecedented</a:t>
            </a:r>
            <a:r>
              <a:rPr dirty="0" sz="1500" spc="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final</a:t>
            </a:r>
            <a:r>
              <a:rPr dirty="0" sz="1500" spc="65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RAG </a:t>
            </a:r>
            <a:r>
              <a:rPr dirty="0" sz="1500" spc="-25">
                <a:latin typeface="Arial MT"/>
                <a:cs typeface="Arial MT"/>
              </a:rPr>
              <a:t>	</a:t>
            </a:r>
            <a:r>
              <a:rPr dirty="0" sz="1500" spc="-10">
                <a:latin typeface="Arial MT"/>
                <a:cs typeface="Arial MT"/>
              </a:rPr>
              <a:t>F1-</a:t>
            </a:r>
            <a:r>
              <a:rPr dirty="0" sz="1500">
                <a:latin typeface="Arial MT"/>
                <a:cs typeface="Arial MT"/>
              </a:rPr>
              <a:t>Score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99.34%.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695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05"/>
              </a:spcBef>
            </a:pPr>
            <a:r>
              <a:rPr dirty="0" spc="-30">
                <a:latin typeface="Trebuchet MS"/>
                <a:cs typeface="Trebuchet MS"/>
              </a:rPr>
              <a:t>Guardrail</a:t>
            </a:r>
            <a:r>
              <a:rPr dirty="0" spc="-160">
                <a:latin typeface="Trebuchet MS"/>
                <a:cs typeface="Trebuchet MS"/>
              </a:rPr>
              <a:t> </a:t>
            </a:r>
            <a:r>
              <a:rPr dirty="0" spc="-30">
                <a:latin typeface="Trebuchet MS"/>
                <a:cs typeface="Trebuchet MS"/>
              </a:rPr>
              <a:t>Validation</a:t>
            </a:r>
            <a:r>
              <a:rPr dirty="0" spc="-155">
                <a:latin typeface="Trebuchet MS"/>
                <a:cs typeface="Trebuchet MS"/>
              </a:rPr>
              <a:t> </a:t>
            </a:r>
            <a:r>
              <a:rPr dirty="0" spc="580">
                <a:latin typeface="Trebuchet MS"/>
                <a:cs typeface="Trebuchet MS"/>
              </a:rPr>
              <a:t>s</a:t>
            </a:r>
            <a:r>
              <a:rPr dirty="0" spc="-175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Confusion</a:t>
            </a:r>
            <a:r>
              <a:rPr dirty="0" spc="-155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Matrix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3225" y="1257300"/>
            <a:ext cx="630555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9918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00"/>
              </a:spcBef>
            </a:pPr>
            <a:r>
              <a:rPr dirty="0" spc="-30">
                <a:latin typeface="Trebuchet MS"/>
                <a:cs typeface="Trebuchet MS"/>
              </a:rPr>
              <a:t>Guardrail</a:t>
            </a:r>
            <a:r>
              <a:rPr dirty="0" spc="-165">
                <a:latin typeface="Trebuchet MS"/>
                <a:cs typeface="Trebuchet MS"/>
              </a:rPr>
              <a:t> </a:t>
            </a:r>
            <a:r>
              <a:rPr dirty="0" spc="-30">
                <a:latin typeface="Trebuchet MS"/>
                <a:cs typeface="Trebuchet MS"/>
              </a:rPr>
              <a:t>Validation</a:t>
            </a:r>
            <a:r>
              <a:rPr dirty="0" spc="-165">
                <a:latin typeface="Trebuchet MS"/>
                <a:cs typeface="Trebuchet MS"/>
              </a:rPr>
              <a:t> </a:t>
            </a:r>
            <a:r>
              <a:rPr dirty="0" spc="580">
                <a:latin typeface="Trebuchet MS"/>
                <a:cs typeface="Trebuchet MS"/>
              </a:rPr>
              <a:t>s</a:t>
            </a:r>
            <a:r>
              <a:rPr dirty="0" spc="-175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Confusion</a:t>
            </a:r>
            <a:r>
              <a:rPr dirty="0" spc="-165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797" y="1175448"/>
            <a:ext cx="10948035" cy="1170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5275" marR="5080" indent="-28321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dirty="0" sz="1500">
                <a:latin typeface="Arial MT"/>
                <a:cs typeface="Arial MT"/>
              </a:rPr>
              <a:t>To rigorously test the system's resilience against hallucination, the testing dataset was intentionally poisoned with 20 </a:t>
            </a:r>
            <a:r>
              <a:rPr dirty="0" sz="1500" spc="-10">
                <a:latin typeface="Arial MT"/>
                <a:cs typeface="Arial MT"/>
              </a:rPr>
              <a:t>out-</a:t>
            </a:r>
            <a:r>
              <a:rPr dirty="0" sz="1500" spc="-25">
                <a:latin typeface="Arial MT"/>
                <a:cs typeface="Arial MT"/>
              </a:rPr>
              <a:t>of-</a:t>
            </a:r>
            <a:r>
              <a:rPr dirty="0" sz="1500" spc="-25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domain</a:t>
            </a:r>
            <a:r>
              <a:rPr dirty="0" sz="1500" spc="3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"trick"</a:t>
            </a:r>
            <a:r>
              <a:rPr dirty="0" sz="1500" spc="3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questions</a:t>
            </a:r>
            <a:r>
              <a:rPr dirty="0" sz="1500" spc="3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(such</a:t>
            </a:r>
            <a:r>
              <a:rPr dirty="0" sz="1500" spc="3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as</a:t>
            </a:r>
            <a:r>
              <a:rPr dirty="0" sz="1500" spc="4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inquiries</a:t>
            </a:r>
            <a:r>
              <a:rPr dirty="0" sz="1500" spc="3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about</a:t>
            </a:r>
            <a:r>
              <a:rPr dirty="0" sz="1500" spc="3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fictional</a:t>
            </a:r>
            <a:r>
              <a:rPr dirty="0" sz="1500" spc="3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schools</a:t>
            </a:r>
            <a:r>
              <a:rPr dirty="0" sz="1500" spc="3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or</a:t>
            </a:r>
            <a:r>
              <a:rPr dirty="0" sz="1500" spc="4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unrelated</a:t>
            </a:r>
            <a:r>
              <a:rPr dirty="0" sz="1500" spc="3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trivia).</a:t>
            </a:r>
            <a:r>
              <a:rPr dirty="0" sz="1500" spc="3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409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resulting</a:t>
            </a:r>
            <a:r>
              <a:rPr dirty="0" sz="1500" spc="3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Confusion</a:t>
            </a:r>
            <a:r>
              <a:rPr dirty="0" sz="1500" spc="409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Matrix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successfully</a:t>
            </a:r>
            <a:r>
              <a:rPr dirty="0" sz="1500" spc="1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logged</a:t>
            </a:r>
            <a:r>
              <a:rPr dirty="0" sz="1500" spc="1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1,500</a:t>
            </a:r>
            <a:r>
              <a:rPr dirty="0" sz="1500" spc="1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True</a:t>
            </a:r>
            <a:r>
              <a:rPr dirty="0" sz="1500" spc="1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Positives,</a:t>
            </a:r>
            <a:r>
              <a:rPr dirty="0" sz="1500" spc="1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confirming</a:t>
            </a:r>
            <a:r>
              <a:rPr dirty="0" sz="1500" spc="1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perfect</a:t>
            </a:r>
            <a:r>
              <a:rPr dirty="0" sz="1500" spc="1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</a:t>
            </a:r>
            <a:r>
              <a:rPr dirty="0" sz="1500" spc="114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extraction.</a:t>
            </a:r>
            <a:r>
              <a:rPr dirty="0" sz="1500" spc="1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However,</a:t>
            </a:r>
            <a:r>
              <a:rPr dirty="0" sz="1500" spc="1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1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system</a:t>
            </a:r>
            <a:r>
              <a:rPr dirty="0" sz="1500" spc="1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registered</a:t>
            </a:r>
            <a:r>
              <a:rPr dirty="0" sz="1500" spc="1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1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minimal</a:t>
            </a:r>
            <a:r>
              <a:rPr dirty="0" sz="1500" spc="110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20 </a:t>
            </a:r>
            <a:r>
              <a:rPr dirty="0" sz="1500" spc="-25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False</a:t>
            </a:r>
            <a:r>
              <a:rPr dirty="0" sz="1500" spc="3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Positives</a:t>
            </a:r>
            <a:r>
              <a:rPr dirty="0" sz="1500" spc="3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where</a:t>
            </a:r>
            <a:r>
              <a:rPr dirty="0" sz="1500" spc="3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3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prompt</a:t>
            </a:r>
            <a:r>
              <a:rPr dirty="0" sz="1500" spc="3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guardrails</a:t>
            </a:r>
            <a:r>
              <a:rPr dirty="0" sz="1500" spc="3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failed</a:t>
            </a:r>
            <a:r>
              <a:rPr dirty="0" sz="1500" spc="3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3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trigger</a:t>
            </a:r>
            <a:r>
              <a:rPr dirty="0" sz="1500" spc="3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3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safe</a:t>
            </a:r>
            <a:r>
              <a:rPr dirty="0" sz="1500" spc="3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refusal.</a:t>
            </a:r>
            <a:r>
              <a:rPr dirty="0" sz="1500" spc="3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This</a:t>
            </a:r>
            <a:r>
              <a:rPr dirty="0" sz="1500" spc="3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empirical</a:t>
            </a:r>
            <a:r>
              <a:rPr dirty="0" sz="1500" spc="3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data</a:t>
            </a:r>
            <a:r>
              <a:rPr dirty="0" sz="1500" spc="3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proves</a:t>
            </a:r>
            <a:r>
              <a:rPr dirty="0" sz="1500" spc="3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that</a:t>
            </a:r>
            <a:r>
              <a:rPr dirty="0" sz="1500" spc="3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while</a:t>
            </a:r>
            <a:r>
              <a:rPr dirty="0" sz="1500" spc="330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the </a:t>
            </a:r>
            <a:r>
              <a:rPr dirty="0" sz="1500" spc="-25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hallucination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problem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is</a:t>
            </a:r>
            <a:r>
              <a:rPr dirty="0" sz="1500" spc="-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highly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solvable,</a:t>
            </a:r>
            <a:r>
              <a:rPr dirty="0" sz="1500" spc="-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rigid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programmatic</a:t>
            </a:r>
            <a:r>
              <a:rPr dirty="0" sz="1500" spc="-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boundaries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must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continuously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refined.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6263" rIns="0" bIns="0" rtlCol="0" vert="horz">
            <a:spAutoFit/>
          </a:bodyPr>
          <a:lstStyle/>
          <a:p>
            <a:pPr marL="294640">
              <a:lnSpc>
                <a:spcPct val="100000"/>
              </a:lnSpc>
              <a:spcBef>
                <a:spcPts val="100"/>
              </a:spcBef>
            </a:pPr>
            <a:r>
              <a:rPr dirty="0" spc="-20">
                <a:latin typeface="Trebuchet MS"/>
                <a:cs typeface="Trebuchet MS"/>
              </a:rPr>
              <a:t>Advanced</a:t>
            </a:r>
            <a:r>
              <a:rPr dirty="0" spc="-165">
                <a:latin typeface="Trebuchet MS"/>
                <a:cs typeface="Trebuchet MS"/>
              </a:rPr>
              <a:t> </a:t>
            </a:r>
            <a:r>
              <a:rPr dirty="0" spc="-30">
                <a:latin typeface="Trebuchet MS"/>
                <a:cs typeface="Trebuchet MS"/>
              </a:rPr>
              <a:t>Validation</a:t>
            </a:r>
            <a:r>
              <a:rPr dirty="0" spc="-14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(ROC-</a:t>
            </a:r>
            <a:r>
              <a:rPr dirty="0" spc="65">
                <a:latin typeface="Trebuchet MS"/>
                <a:cs typeface="Trebuchet MS"/>
              </a:rPr>
              <a:t>AUC</a:t>
            </a:r>
            <a:r>
              <a:rPr dirty="0" spc="-150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Analysis)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8850" y="1104900"/>
            <a:ext cx="7296150" cy="54673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9918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rebuchet MS"/>
                <a:cs typeface="Trebuchet MS"/>
              </a:rPr>
              <a:t>Advanced</a:t>
            </a:r>
            <a:r>
              <a:rPr dirty="0" spc="-195">
                <a:latin typeface="Trebuchet MS"/>
                <a:cs typeface="Trebuchet MS"/>
              </a:rPr>
              <a:t> </a:t>
            </a:r>
            <a:r>
              <a:rPr dirty="0" spc="-30">
                <a:latin typeface="Trebuchet MS"/>
                <a:cs typeface="Trebuchet MS"/>
              </a:rPr>
              <a:t>Validation</a:t>
            </a:r>
            <a:r>
              <a:rPr dirty="0" spc="-170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(ROC-</a:t>
            </a:r>
            <a:r>
              <a:rPr dirty="0" spc="65">
                <a:latin typeface="Trebuchet MS"/>
                <a:cs typeface="Trebuchet MS"/>
              </a:rPr>
              <a:t>AUC</a:t>
            </a:r>
            <a:r>
              <a:rPr dirty="0" spc="-180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Analysis)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797" y="1175448"/>
            <a:ext cx="10946130" cy="1170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5275" marR="5080" indent="-28321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1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further</a:t>
            </a:r>
            <a:r>
              <a:rPr dirty="0" sz="1500" spc="1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validate</a:t>
            </a:r>
            <a:r>
              <a:rPr dirty="0" sz="1500" spc="1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1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discriminative</a:t>
            </a:r>
            <a:r>
              <a:rPr dirty="0" sz="1500" spc="2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power</a:t>
            </a:r>
            <a:r>
              <a:rPr dirty="0" sz="1500" spc="1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1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1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retrieval</a:t>
            </a:r>
            <a:r>
              <a:rPr dirty="0" sz="1500" spc="1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engine,</a:t>
            </a:r>
            <a:r>
              <a:rPr dirty="0" sz="1500" spc="1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1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Receiver</a:t>
            </a:r>
            <a:r>
              <a:rPr dirty="0" sz="1500" spc="1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Operating</a:t>
            </a:r>
            <a:r>
              <a:rPr dirty="0" sz="1500" spc="1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Characteristic</a:t>
            </a:r>
            <a:r>
              <a:rPr dirty="0" sz="1500" spc="1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(ROC)</a:t>
            </a:r>
            <a:r>
              <a:rPr dirty="0" sz="1500" spc="1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curve</a:t>
            </a:r>
            <a:r>
              <a:rPr dirty="0" sz="1500" spc="165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was </a:t>
            </a:r>
            <a:r>
              <a:rPr dirty="0" sz="1500" spc="-25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plotted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by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tracking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True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Positive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Rate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against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False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Positive</a:t>
            </a:r>
            <a:r>
              <a:rPr dirty="0" sz="1500" spc="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Rate,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utilizing</a:t>
            </a:r>
            <a:r>
              <a:rPr dirty="0" sz="1500" spc="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FAISS</a:t>
            </a:r>
            <a:r>
              <a:rPr dirty="0" sz="1500" spc="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L2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Semantic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Similarity</a:t>
            </a:r>
            <a:r>
              <a:rPr dirty="0" sz="1500" spc="7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Scores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as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confidence</a:t>
            </a:r>
            <a:r>
              <a:rPr dirty="0" sz="1500" spc="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threshold.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architecture</a:t>
            </a:r>
            <a:r>
              <a:rPr dirty="0" sz="1500" spc="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achieved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mathematically</a:t>
            </a:r>
            <a:r>
              <a:rPr dirty="0" sz="1500" spc="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exceptional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Area</a:t>
            </a:r>
            <a:r>
              <a:rPr dirty="0" sz="1500" spc="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Under</a:t>
            </a:r>
            <a:r>
              <a:rPr dirty="0" sz="1500" spc="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Curve</a:t>
            </a:r>
            <a:r>
              <a:rPr dirty="0" sz="1500" spc="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(AUC)</a:t>
            </a:r>
            <a:r>
              <a:rPr dirty="0" sz="1500" spc="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6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0.967.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This</a:t>
            </a:r>
            <a:r>
              <a:rPr dirty="0" sz="1500" spc="1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provides</a:t>
            </a:r>
            <a:r>
              <a:rPr dirty="0" sz="1500" spc="1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definitive</a:t>
            </a:r>
            <a:r>
              <a:rPr dirty="0" sz="1500" spc="1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statistical</a:t>
            </a:r>
            <a:r>
              <a:rPr dirty="0" sz="1500" spc="114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proof</a:t>
            </a:r>
            <a:r>
              <a:rPr dirty="0" sz="1500" spc="1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that</a:t>
            </a:r>
            <a:r>
              <a:rPr dirty="0" sz="1500" spc="1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1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dense</a:t>
            </a:r>
            <a:r>
              <a:rPr dirty="0" sz="1500" spc="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vector</a:t>
            </a:r>
            <a:r>
              <a:rPr dirty="0" sz="1500" spc="114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embeddings</a:t>
            </a:r>
            <a:r>
              <a:rPr dirty="0" sz="1500" spc="1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possess</a:t>
            </a:r>
            <a:r>
              <a:rPr dirty="0" sz="1500" spc="8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1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highly</a:t>
            </a:r>
            <a:r>
              <a:rPr dirty="0" sz="1500" spc="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robust</a:t>
            </a:r>
            <a:r>
              <a:rPr dirty="0" sz="1500" spc="1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semantic</a:t>
            </a:r>
            <a:r>
              <a:rPr dirty="0" sz="1500" spc="14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understanding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capable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distinguishing</a:t>
            </a:r>
            <a:r>
              <a:rPr dirty="0" sz="1500" spc="-1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valid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queries</a:t>
            </a:r>
            <a:r>
              <a:rPr dirty="0" sz="1500" spc="-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from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irrelevant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noise.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0708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rebuchet MS"/>
                <a:cs typeface="Trebuchet MS"/>
              </a:rPr>
              <a:t>Deployment</a:t>
            </a:r>
            <a:r>
              <a:rPr dirty="0" spc="-175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Constraints</a:t>
            </a:r>
            <a:r>
              <a:rPr dirty="0" spc="-180">
                <a:latin typeface="Trebuchet MS"/>
                <a:cs typeface="Trebuchet MS"/>
              </a:rPr>
              <a:t> </a:t>
            </a:r>
            <a:r>
              <a:rPr dirty="0" spc="580">
                <a:latin typeface="Trebuchet MS"/>
                <a:cs typeface="Trebuchet MS"/>
              </a:rPr>
              <a:t>s</a:t>
            </a:r>
            <a:r>
              <a:rPr dirty="0" spc="-190">
                <a:latin typeface="Trebuchet MS"/>
                <a:cs typeface="Trebuchet MS"/>
              </a:rPr>
              <a:t> </a:t>
            </a:r>
            <a:r>
              <a:rPr dirty="0" spc="-50">
                <a:latin typeface="Trebuchet MS"/>
                <a:cs typeface="Trebuchet MS"/>
              </a:rPr>
              <a:t>Latency</a:t>
            </a:r>
            <a:r>
              <a:rPr dirty="0" spc="-125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171575"/>
            <a:ext cx="7610475" cy="54387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9918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rebuchet MS"/>
                <a:cs typeface="Trebuchet MS"/>
              </a:rPr>
              <a:t>Deployment</a:t>
            </a:r>
            <a:r>
              <a:rPr dirty="0" spc="-175">
                <a:latin typeface="Trebuchet MS"/>
                <a:cs typeface="Trebuchet MS"/>
              </a:rPr>
              <a:t> </a:t>
            </a:r>
            <a:r>
              <a:rPr dirty="0">
                <a:latin typeface="Trebuchet MS"/>
                <a:cs typeface="Trebuchet MS"/>
              </a:rPr>
              <a:t>Constraints</a:t>
            </a:r>
            <a:r>
              <a:rPr dirty="0" spc="-180">
                <a:latin typeface="Trebuchet MS"/>
                <a:cs typeface="Trebuchet MS"/>
              </a:rPr>
              <a:t> </a:t>
            </a:r>
            <a:r>
              <a:rPr dirty="0" spc="580">
                <a:latin typeface="Trebuchet MS"/>
                <a:cs typeface="Trebuchet MS"/>
              </a:rPr>
              <a:t>s</a:t>
            </a:r>
            <a:r>
              <a:rPr dirty="0" spc="-190">
                <a:latin typeface="Trebuchet MS"/>
                <a:cs typeface="Trebuchet MS"/>
              </a:rPr>
              <a:t> </a:t>
            </a:r>
            <a:r>
              <a:rPr dirty="0" spc="-50">
                <a:latin typeface="Trebuchet MS"/>
                <a:cs typeface="Trebuchet MS"/>
              </a:rPr>
              <a:t>Latency</a:t>
            </a:r>
            <a:r>
              <a:rPr dirty="0" spc="-125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797" y="1175448"/>
            <a:ext cx="10946130" cy="1170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5275" marR="5080" indent="-28321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dirty="0" sz="1500">
                <a:latin typeface="Arial MT"/>
                <a:cs typeface="Arial MT"/>
              </a:rPr>
              <a:t>While</a:t>
            </a:r>
            <a:r>
              <a:rPr dirty="0" sz="1500" spc="3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3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system</a:t>
            </a:r>
            <a:r>
              <a:rPr dirty="0" sz="1500" spc="2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achieved</a:t>
            </a:r>
            <a:r>
              <a:rPr dirty="0" sz="1500" spc="33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near-</a:t>
            </a:r>
            <a:r>
              <a:rPr dirty="0" sz="1500">
                <a:latin typeface="Arial MT"/>
                <a:cs typeface="Arial MT"/>
              </a:rPr>
              <a:t>perfect</a:t>
            </a:r>
            <a:r>
              <a:rPr dirty="0" sz="1500" spc="3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factual</a:t>
            </a:r>
            <a:r>
              <a:rPr dirty="0" sz="1500" spc="3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accuracy,</a:t>
            </a:r>
            <a:r>
              <a:rPr dirty="0" sz="1500" spc="3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local</a:t>
            </a:r>
            <a:r>
              <a:rPr dirty="0" sz="1500" spc="3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deployment</a:t>
            </a:r>
            <a:r>
              <a:rPr dirty="0" sz="1500" spc="3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faces</a:t>
            </a:r>
            <a:r>
              <a:rPr dirty="0" sz="1500" spc="3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significant</a:t>
            </a:r>
            <a:r>
              <a:rPr dirty="0" sz="1500" spc="30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computational</a:t>
            </a:r>
            <a:r>
              <a:rPr dirty="0" sz="1500" spc="37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bottlenecks. </a:t>
            </a:r>
            <a:r>
              <a:rPr dirty="0" sz="1500" spc="-1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During</a:t>
            </a:r>
            <a:r>
              <a:rPr dirty="0" sz="1500" spc="45">
                <a:latin typeface="Arial MT"/>
                <a:cs typeface="Arial MT"/>
              </a:rPr>
              <a:t> 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4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automated</a:t>
            </a:r>
            <a:r>
              <a:rPr dirty="0" sz="1500" spc="459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testing</a:t>
            </a:r>
            <a:r>
              <a:rPr dirty="0" sz="1500" spc="4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phase,</a:t>
            </a:r>
            <a:r>
              <a:rPr dirty="0" sz="1500" spc="4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local</a:t>
            </a:r>
            <a:r>
              <a:rPr dirty="0" sz="1500" spc="4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CPU</a:t>
            </a:r>
            <a:r>
              <a:rPr dirty="0" sz="1500" spc="4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inference</a:t>
            </a:r>
            <a:r>
              <a:rPr dirty="0" sz="1500" spc="50">
                <a:latin typeface="Arial MT"/>
                <a:cs typeface="Arial MT"/>
              </a:rPr>
              <a:t>  </a:t>
            </a:r>
            <a:r>
              <a:rPr dirty="0" sz="1500">
                <a:latin typeface="Arial MT"/>
                <a:cs typeface="Arial MT"/>
              </a:rPr>
              <a:t>averaged</a:t>
            </a:r>
            <a:r>
              <a:rPr dirty="0" sz="1500" spc="4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5,369</a:t>
            </a:r>
            <a:r>
              <a:rPr dirty="0" sz="1500" spc="55">
                <a:latin typeface="Arial MT"/>
                <a:cs typeface="Arial MT"/>
              </a:rPr>
              <a:t>  </a:t>
            </a:r>
            <a:r>
              <a:rPr dirty="0" sz="1500">
                <a:latin typeface="Arial MT"/>
                <a:cs typeface="Arial MT"/>
              </a:rPr>
              <a:t>milliseconds</a:t>
            </a:r>
            <a:r>
              <a:rPr dirty="0" sz="1500" spc="55">
                <a:latin typeface="Arial MT"/>
                <a:cs typeface="Arial MT"/>
              </a:rPr>
              <a:t>  </a:t>
            </a:r>
            <a:r>
              <a:rPr dirty="0" sz="1500">
                <a:latin typeface="Arial MT"/>
                <a:cs typeface="Arial MT"/>
              </a:rPr>
              <a:t>per</a:t>
            </a:r>
            <a:r>
              <a:rPr dirty="0" sz="1500" spc="55">
                <a:latin typeface="Arial MT"/>
                <a:cs typeface="Arial MT"/>
              </a:rPr>
              <a:t>  </a:t>
            </a:r>
            <a:r>
              <a:rPr dirty="0" sz="1500">
                <a:latin typeface="Arial MT"/>
                <a:cs typeface="Arial MT"/>
              </a:rPr>
              <a:t>query,</a:t>
            </a:r>
            <a:r>
              <a:rPr dirty="0" sz="1500" spc="50">
                <a:latin typeface="Arial MT"/>
                <a:cs typeface="Arial MT"/>
              </a:rPr>
              <a:t>  </a:t>
            </a:r>
            <a:r>
              <a:rPr dirty="0" sz="1500">
                <a:latin typeface="Arial MT"/>
                <a:cs typeface="Arial MT"/>
              </a:rPr>
              <a:t>hindered</a:t>
            </a:r>
            <a:r>
              <a:rPr dirty="0" sz="1500" spc="45">
                <a:latin typeface="Arial MT"/>
                <a:cs typeface="Arial MT"/>
              </a:rPr>
              <a:t>  </a:t>
            </a:r>
            <a:r>
              <a:rPr dirty="0" sz="1500">
                <a:latin typeface="Arial MT"/>
                <a:cs typeface="Arial MT"/>
              </a:rPr>
              <a:t>by</a:t>
            </a:r>
            <a:r>
              <a:rPr dirty="0" sz="1500" spc="50">
                <a:latin typeface="Arial MT"/>
                <a:cs typeface="Arial MT"/>
              </a:rPr>
              <a:t>  </a:t>
            </a:r>
            <a:r>
              <a:rPr dirty="0" sz="1500" spc="-25">
                <a:latin typeface="Arial MT"/>
                <a:cs typeface="Arial MT"/>
              </a:rPr>
              <a:t>the </a:t>
            </a:r>
            <a:r>
              <a:rPr dirty="0" sz="1500" spc="-25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autoregressive</a:t>
            </a:r>
            <a:r>
              <a:rPr dirty="0" sz="1500" spc="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text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generation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transformer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model. However,</a:t>
            </a:r>
            <a:r>
              <a:rPr dirty="0" sz="1500" spc="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when</a:t>
            </a:r>
            <a:r>
              <a:rPr dirty="0" sz="1500" spc="-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executed</a:t>
            </a:r>
            <a:r>
              <a:rPr dirty="0" sz="1500" spc="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on</a:t>
            </a:r>
            <a:r>
              <a:rPr dirty="0" sz="1500" spc="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 </a:t>
            </a:r>
            <a:r>
              <a:rPr dirty="0" sz="1500" spc="-10">
                <a:latin typeface="Arial MT"/>
                <a:cs typeface="Arial MT"/>
              </a:rPr>
              <a:t>cloud-</a:t>
            </a:r>
            <a:r>
              <a:rPr dirty="0" sz="1500">
                <a:latin typeface="Arial MT"/>
                <a:cs typeface="Arial MT"/>
              </a:rPr>
              <a:t>based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NVIDIA</a:t>
            </a:r>
            <a:r>
              <a:rPr dirty="0" sz="1500" spc="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T4</a:t>
            </a:r>
            <a:r>
              <a:rPr dirty="0" sz="1500" spc="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Tensor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 spc="-20">
                <a:latin typeface="Arial MT"/>
                <a:cs typeface="Arial MT"/>
              </a:rPr>
              <a:t>Core </a:t>
            </a:r>
            <a:r>
              <a:rPr dirty="0" sz="1500" spc="-20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GPU,</a:t>
            </a:r>
            <a:r>
              <a:rPr dirty="0" sz="1500" spc="3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latency</a:t>
            </a:r>
            <a:r>
              <a:rPr dirty="0" sz="1500" spc="31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plummeted</a:t>
            </a:r>
            <a:r>
              <a:rPr dirty="0" sz="1500" spc="3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3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3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highly</a:t>
            </a:r>
            <a:r>
              <a:rPr dirty="0" sz="1500" spc="3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responsive</a:t>
            </a:r>
            <a:r>
              <a:rPr dirty="0" sz="1500" spc="3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280</a:t>
            </a:r>
            <a:r>
              <a:rPr dirty="0" sz="1500" spc="3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milliseconds.</a:t>
            </a:r>
            <a:r>
              <a:rPr dirty="0" sz="1500" spc="3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This</a:t>
            </a:r>
            <a:r>
              <a:rPr dirty="0" sz="1500" spc="3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analysis</a:t>
            </a:r>
            <a:r>
              <a:rPr dirty="0" sz="1500" spc="3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definitively</a:t>
            </a:r>
            <a:r>
              <a:rPr dirty="0" sz="1500" spc="3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highlights</a:t>
            </a:r>
            <a:r>
              <a:rPr dirty="0" sz="1500" spc="3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3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necessity</a:t>
            </a:r>
            <a:r>
              <a:rPr dirty="0" sz="1500" spc="320">
                <a:latin typeface="Arial MT"/>
                <a:cs typeface="Arial MT"/>
              </a:rPr>
              <a:t> </a:t>
            </a:r>
            <a:r>
              <a:rPr dirty="0" sz="1500" spc="-25">
                <a:latin typeface="Arial MT"/>
                <a:cs typeface="Arial MT"/>
              </a:rPr>
              <a:t>of </a:t>
            </a:r>
            <a:r>
              <a:rPr dirty="0" sz="1500" spc="-25">
                <a:latin typeface="Arial MT"/>
                <a:cs typeface="Arial MT"/>
              </a:rPr>
              <a:t>	</a:t>
            </a:r>
            <a:r>
              <a:rPr dirty="0" sz="1500">
                <a:latin typeface="Arial MT"/>
                <a:cs typeface="Arial MT"/>
              </a:rPr>
              <a:t>dedicated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GPU</a:t>
            </a:r>
            <a:r>
              <a:rPr dirty="0" sz="1500" spc="-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infrastructure</a:t>
            </a:r>
            <a:r>
              <a:rPr dirty="0" sz="1500" spc="-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for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scaling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the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chatbot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to</a:t>
            </a:r>
            <a:r>
              <a:rPr dirty="0" sz="1500" spc="-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handle</a:t>
            </a:r>
            <a:r>
              <a:rPr dirty="0" sz="1500" spc="-3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thousands</a:t>
            </a:r>
            <a:r>
              <a:rPr dirty="0" sz="1500" spc="-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of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concurrent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student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queries.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695" rIns="0" bIns="0" rtlCol="0" vert="horz">
            <a:spAutoFit/>
          </a:bodyPr>
          <a:lstStyle/>
          <a:p>
            <a:pPr marL="23177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rebuchet MS"/>
                <a:cs typeface="Trebuchet MS"/>
              </a:rPr>
              <a:t>Comparison</a:t>
            </a:r>
            <a:r>
              <a:rPr dirty="0" spc="-114">
                <a:latin typeface="Trebuchet MS"/>
                <a:cs typeface="Trebuchet MS"/>
              </a:rPr>
              <a:t> </a:t>
            </a:r>
            <a:r>
              <a:rPr dirty="0" spc="-85">
                <a:latin typeface="Trebuchet MS"/>
                <a:cs typeface="Trebuchet MS"/>
              </a:rPr>
              <a:t>with</a:t>
            </a:r>
            <a:r>
              <a:rPr dirty="0" spc="-114">
                <a:latin typeface="Trebuchet MS"/>
                <a:cs typeface="Trebuchet MS"/>
              </a:rPr>
              <a:t> </a:t>
            </a:r>
            <a:r>
              <a:rPr dirty="0" spc="-80">
                <a:latin typeface="Trebuchet MS"/>
                <a:cs typeface="Trebuchet MS"/>
              </a:rPr>
              <a:t>Literature</a:t>
            </a:r>
            <a:r>
              <a:rPr dirty="0" spc="-145">
                <a:latin typeface="Trebuchet MS"/>
                <a:cs typeface="Trebuchet MS"/>
              </a:rPr>
              <a:t> </a:t>
            </a:r>
            <a:r>
              <a:rPr dirty="0" spc="-10">
                <a:latin typeface="Trebuchet MS"/>
                <a:cs typeface="Trebuchet MS"/>
              </a:rPr>
              <a:t>Baselines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20990" y="1329816"/>
          <a:ext cx="10046970" cy="5031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6940"/>
                <a:gridCol w="2191385"/>
                <a:gridCol w="1409700"/>
                <a:gridCol w="1409700"/>
                <a:gridCol w="1409700"/>
                <a:gridCol w="1351915"/>
              </a:tblGrid>
              <a:tr h="718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ts val="123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Reference</a:t>
                      </a:r>
                      <a:r>
                        <a:rPr dirty="0" sz="1050" spc="-35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(From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Literature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ts val="1230"/>
                        </a:lnSpc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Review)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82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dirty="0" sz="1050" spc="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Architecture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8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3970">
                        <a:lnSpc>
                          <a:spcPct val="100000"/>
                        </a:lnSpc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8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0795">
                        <a:lnSpc>
                          <a:spcPct val="100000"/>
                        </a:lnSpc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Precision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8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0160">
                        <a:lnSpc>
                          <a:spcPct val="100000"/>
                        </a:lnSpc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Recall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8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4604">
                        <a:lnSpc>
                          <a:spcPct val="100000"/>
                        </a:lnSpc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F1-Score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8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8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Alkhoori</a:t>
                      </a:r>
                      <a:r>
                        <a:rPr dirty="0" sz="1050" spc="-2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et al.</a:t>
                      </a:r>
                      <a:r>
                        <a:rPr dirty="0" sz="1050" spc="-7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(2020) -</a:t>
                      </a:r>
                      <a:r>
                        <a:rPr dirty="0" sz="1050" spc="-3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UniBud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DialogFlow</a:t>
                      </a: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(Rule-Based)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397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74.5%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5875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82.0%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8415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70.1%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2032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75.5%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95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8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Al-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Jedaie</a:t>
                      </a:r>
                      <a:r>
                        <a:rPr dirty="0" sz="1050" spc="-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dirty="0" sz="1050" spc="-4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al.</a:t>
                      </a:r>
                      <a:r>
                        <a:rPr dirty="0" sz="1050" spc="2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(2022)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NLP</a:t>
                      </a:r>
                      <a:r>
                        <a:rPr dirty="0" sz="1050" spc="-2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Intent</a:t>
                      </a:r>
                      <a:r>
                        <a:rPr dirty="0" sz="1050" spc="-2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Classification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72.1%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52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78.4%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77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65.2%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203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71.1%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0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8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Amarnath</a:t>
                      </a:r>
                      <a:r>
                        <a:rPr dirty="0" sz="1050" spc="-3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&amp; Nagarajan</a:t>
                      </a:r>
                      <a:r>
                        <a:rPr dirty="0" sz="1050" spc="-3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(2024)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14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RAG</a:t>
                      </a:r>
                      <a:r>
                        <a:rPr dirty="0" sz="1050" spc="-2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(Single</a:t>
                      </a: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Course)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14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397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85.3%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14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5875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88.1%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14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8415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85.0%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14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2032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86.5%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14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8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Saha</a:t>
                      </a:r>
                      <a:r>
                        <a:rPr dirty="0" sz="1050" spc="-6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Saha</a:t>
                      </a:r>
                      <a:r>
                        <a:rPr dirty="0" sz="1050" spc="1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(2024)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dirty="0" sz="1050" spc="-3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RAG</a:t>
                      </a:r>
                      <a:r>
                        <a:rPr dirty="0" sz="1050" spc="-3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(FAQ</a:t>
                      </a:r>
                      <a:r>
                        <a:rPr dirty="0" sz="1050" spc="4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Corpus)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39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86.8%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58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85.5%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84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89.2%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203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87.3%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8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Studener</a:t>
                      </a:r>
                      <a:r>
                        <a:rPr dirty="0" sz="1050" spc="-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(2025)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Advanced</a:t>
                      </a:r>
                      <a:r>
                        <a:rPr dirty="0" sz="1050" spc="-2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RAG</a:t>
                      </a:r>
                      <a:r>
                        <a:rPr dirty="0" sz="1050" spc="-3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(LMS</a:t>
                      </a:r>
                      <a:r>
                        <a:rPr dirty="0" sz="1050" spc="-15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Integration)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89.5%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524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91.2%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778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87.6%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20320">
                        <a:lnSpc>
                          <a:spcPct val="100000"/>
                        </a:lnSpc>
                      </a:pPr>
                      <a:r>
                        <a:rPr dirty="0" sz="1050" spc="-10">
                          <a:solidFill>
                            <a:srgbClr val="0F0F0F"/>
                          </a:solidFill>
                          <a:latin typeface="Times New Roman"/>
                          <a:cs typeface="Times New Roman"/>
                        </a:rPr>
                        <a:t>89.3%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18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692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Our</a:t>
                      </a:r>
                      <a:r>
                        <a:rPr dirty="0" sz="1050" spc="2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Proposed</a:t>
                      </a:r>
                      <a:r>
                        <a:rPr dirty="0" sz="1050" spc="-5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RAG</a:t>
                      </a: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Chatbot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3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Dense FAISS</a:t>
                      </a:r>
                      <a:r>
                        <a:rPr dirty="0" sz="1050" spc="-4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dirty="0" sz="1050" spc="-2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Qwen2.5</a:t>
                      </a:r>
                      <a:r>
                        <a:rPr dirty="0" sz="1050" spc="-7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5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LLM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3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76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98.68%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3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88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98.68%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3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143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100.0%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3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 marL="127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50" spc="-10" b="1">
                          <a:solidFill>
                            <a:srgbClr val="0F0F0F"/>
                          </a:solidFill>
                          <a:latin typeface="Arial"/>
                          <a:cs typeface="Arial"/>
                        </a:rPr>
                        <a:t>99.34%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1339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9918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00"/>
              </a:spcBef>
            </a:pPr>
            <a:r>
              <a:rPr dirty="0"/>
              <a:t>Summary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 spc="-10"/>
              <a:t>Contributions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797" y="1175448"/>
            <a:ext cx="10947400" cy="18567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8255">
              <a:lnSpc>
                <a:spcPct val="100000"/>
              </a:lnSpc>
              <a:spcBef>
                <a:spcPts val="100"/>
              </a:spcBef>
              <a:buSzPct val="93333"/>
              <a:buFont typeface="Arial MT"/>
              <a:buChar char="•"/>
              <a:tabLst>
                <a:tab pos="79375" algn="l"/>
              </a:tabLst>
            </a:pPr>
            <a:r>
              <a:rPr dirty="0" sz="1500" spc="-10" b="1">
                <a:latin typeface="Arial"/>
                <a:cs typeface="Arial"/>
              </a:rPr>
              <a:t>	</a:t>
            </a:r>
            <a:r>
              <a:rPr dirty="0" sz="1500" spc="-10" b="1">
                <a:latin typeface="Arial"/>
                <a:cs typeface="Arial"/>
              </a:rPr>
              <a:t>Zero-</a:t>
            </a:r>
            <a:r>
              <a:rPr dirty="0" sz="1500" b="1">
                <a:latin typeface="Arial"/>
                <a:cs typeface="Arial"/>
              </a:rPr>
              <a:t>Hallucination</a:t>
            </a:r>
            <a:r>
              <a:rPr dirty="0" sz="1500" spc="2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Pipeline:</a:t>
            </a:r>
            <a:r>
              <a:rPr dirty="0" sz="1500" spc="15" b="1">
                <a:latin typeface="Arial"/>
                <a:cs typeface="Arial"/>
              </a:rPr>
              <a:t> </a:t>
            </a:r>
            <a:r>
              <a:rPr dirty="0" sz="1500">
                <a:latin typeface="Arial MT"/>
                <a:cs typeface="Arial MT"/>
              </a:rPr>
              <a:t>Successfully</a:t>
            </a:r>
            <a:r>
              <a:rPr dirty="0" sz="1500" spc="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engineered</a:t>
            </a:r>
            <a:r>
              <a:rPr dirty="0" sz="1500" spc="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strict,</a:t>
            </a:r>
            <a:r>
              <a:rPr dirty="0" sz="1500" spc="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highly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controlled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architecture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that</a:t>
            </a:r>
            <a:r>
              <a:rPr dirty="0" sz="1500" spc="-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safely</a:t>
            </a:r>
            <a:r>
              <a:rPr dirty="0" sz="1500" spc="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decouples</a:t>
            </a:r>
            <a:r>
              <a:rPr dirty="0" sz="1500" spc="-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1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generative </a:t>
            </a:r>
            <a:r>
              <a:rPr dirty="0" sz="1500">
                <a:latin typeface="Arial MT"/>
                <a:cs typeface="Arial MT"/>
              </a:rPr>
              <a:t>language</a:t>
            </a:r>
            <a:r>
              <a:rPr dirty="0" sz="1500" spc="-9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model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from</a:t>
            </a:r>
            <a:r>
              <a:rPr dirty="0" sz="1500" spc="-2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its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probabilistic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memory.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500">
              <a:latin typeface="Arial MT"/>
              <a:cs typeface="Arial MT"/>
            </a:endParaRPr>
          </a:p>
          <a:p>
            <a:pPr marL="12700" marR="10795" indent="-8255">
              <a:lnSpc>
                <a:spcPct val="100000"/>
              </a:lnSpc>
              <a:spcBef>
                <a:spcPts val="5"/>
              </a:spcBef>
              <a:buSzPct val="93333"/>
              <a:buFont typeface="Arial MT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Optimized</a:t>
            </a:r>
            <a:r>
              <a:rPr dirty="0" sz="1500" spc="33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Local</a:t>
            </a:r>
            <a:r>
              <a:rPr dirty="0" sz="1500" spc="28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Deployment:</a:t>
            </a:r>
            <a:r>
              <a:rPr dirty="0" sz="1500" spc="305" b="1">
                <a:latin typeface="Arial"/>
                <a:cs typeface="Arial"/>
              </a:rPr>
              <a:t> </a:t>
            </a:r>
            <a:r>
              <a:rPr dirty="0" sz="1500">
                <a:latin typeface="Arial MT"/>
                <a:cs typeface="Arial MT"/>
              </a:rPr>
              <a:t>Demonstrated</a:t>
            </a:r>
            <a:r>
              <a:rPr dirty="0" sz="1500" spc="30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that</a:t>
            </a:r>
            <a:r>
              <a:rPr dirty="0" sz="1500" spc="2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a</a:t>
            </a:r>
            <a:r>
              <a:rPr dirty="0" sz="1500" spc="31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heavily</a:t>
            </a:r>
            <a:r>
              <a:rPr dirty="0" sz="1500" spc="2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optimized,</a:t>
            </a:r>
            <a:r>
              <a:rPr dirty="0" sz="1500" spc="29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localized</a:t>
            </a:r>
            <a:r>
              <a:rPr dirty="0" sz="1500" spc="320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1.5-</a:t>
            </a:r>
            <a:r>
              <a:rPr dirty="0" sz="1500">
                <a:latin typeface="Arial MT"/>
                <a:cs typeface="Arial MT"/>
              </a:rPr>
              <a:t>Billion</a:t>
            </a:r>
            <a:r>
              <a:rPr dirty="0" sz="1500" spc="2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parameter</a:t>
            </a:r>
            <a:r>
              <a:rPr dirty="0" sz="1500" spc="27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open-</a:t>
            </a:r>
            <a:r>
              <a:rPr dirty="0" sz="1500">
                <a:latin typeface="Arial MT"/>
                <a:cs typeface="Arial MT"/>
              </a:rPr>
              <a:t>weight</a:t>
            </a:r>
            <a:r>
              <a:rPr dirty="0" sz="1500" spc="26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model </a:t>
            </a:r>
            <a:r>
              <a:rPr dirty="0" sz="1500">
                <a:latin typeface="Arial MT"/>
                <a:cs typeface="Arial MT"/>
              </a:rPr>
              <a:t>(Qwen2.5)</a:t>
            </a:r>
            <a:r>
              <a:rPr dirty="0" sz="1500" spc="-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can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significantly</a:t>
            </a:r>
            <a:r>
              <a:rPr dirty="0" sz="1500" spc="-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outperform</a:t>
            </a:r>
            <a:r>
              <a:rPr dirty="0" sz="1500" spc="-3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massive</a:t>
            </a:r>
            <a:r>
              <a:rPr dirty="0" sz="1500" spc="-2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cloud-</a:t>
            </a:r>
            <a:r>
              <a:rPr dirty="0" sz="1500">
                <a:latin typeface="Arial MT"/>
                <a:cs typeface="Arial MT"/>
              </a:rPr>
              <a:t>based</a:t>
            </a:r>
            <a:r>
              <a:rPr dirty="0" sz="1500" spc="-8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models</a:t>
            </a:r>
            <a:r>
              <a:rPr dirty="0" sz="1500" spc="-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on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domain-</a:t>
            </a:r>
            <a:r>
              <a:rPr dirty="0" sz="1500">
                <a:latin typeface="Arial MT"/>
                <a:cs typeface="Arial MT"/>
              </a:rPr>
              <a:t>specific</a:t>
            </a:r>
            <a:r>
              <a:rPr dirty="0" sz="1500" spc="-6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reasoning</a:t>
            </a:r>
            <a:r>
              <a:rPr dirty="0" sz="1500" spc="-4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tasks.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500">
              <a:latin typeface="Arial MT"/>
              <a:cs typeface="Arial MT"/>
            </a:endParaRPr>
          </a:p>
          <a:p>
            <a:pPr marL="12700" marR="10795" indent="-8255">
              <a:lnSpc>
                <a:spcPct val="100000"/>
              </a:lnSpc>
              <a:buSzPct val="93333"/>
              <a:buFont typeface="Arial MT"/>
              <a:buChar char="•"/>
              <a:tabLst>
                <a:tab pos="79375" algn="l"/>
                <a:tab pos="3356610" algn="l"/>
                <a:tab pos="4715510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Rigorous</a:t>
            </a:r>
            <a:r>
              <a:rPr dirty="0" sz="1500" spc="65" b="1">
                <a:latin typeface="Arial"/>
                <a:cs typeface="Arial"/>
              </a:rPr>
              <a:t>  </a:t>
            </a:r>
            <a:r>
              <a:rPr dirty="0" sz="1500" b="1">
                <a:latin typeface="Arial"/>
                <a:cs typeface="Arial"/>
              </a:rPr>
              <a:t>Evaluation</a:t>
            </a:r>
            <a:r>
              <a:rPr dirty="0" sz="1500" spc="80" b="1">
                <a:latin typeface="Arial"/>
                <a:cs typeface="Arial"/>
              </a:rPr>
              <a:t>  </a:t>
            </a:r>
            <a:r>
              <a:rPr dirty="0" sz="1500" spc="-10" b="1">
                <a:latin typeface="Arial"/>
                <a:cs typeface="Arial"/>
              </a:rPr>
              <a:t>Framework:</a:t>
            </a: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>
                <a:latin typeface="Arial MT"/>
                <a:cs typeface="Arial MT"/>
              </a:rPr>
              <a:t>Established</a:t>
            </a:r>
            <a:r>
              <a:rPr dirty="0" sz="1500" spc="60">
                <a:latin typeface="Arial MT"/>
                <a:cs typeface="Arial MT"/>
              </a:rPr>
              <a:t>  </a:t>
            </a:r>
            <a:r>
              <a:rPr dirty="0" sz="1500" spc="-50">
                <a:latin typeface="Arial MT"/>
                <a:cs typeface="Arial MT"/>
              </a:rPr>
              <a:t>a</a:t>
            </a:r>
            <a:r>
              <a:rPr dirty="0" sz="1500">
                <a:latin typeface="Arial MT"/>
                <a:cs typeface="Arial MT"/>
              </a:rPr>
              <a:t>	mathematically</a:t>
            </a:r>
            <a:r>
              <a:rPr dirty="0" sz="1500" spc="65">
                <a:latin typeface="Arial MT"/>
                <a:cs typeface="Arial MT"/>
              </a:rPr>
              <a:t>  </a:t>
            </a:r>
            <a:r>
              <a:rPr dirty="0" sz="1500">
                <a:latin typeface="Arial MT"/>
                <a:cs typeface="Arial MT"/>
              </a:rPr>
              <a:t>standardized,</a:t>
            </a:r>
            <a:r>
              <a:rPr dirty="0" sz="1500" spc="75">
                <a:latin typeface="Arial MT"/>
                <a:cs typeface="Arial MT"/>
              </a:rPr>
              <a:t>  </a:t>
            </a:r>
            <a:r>
              <a:rPr dirty="0" sz="1500" spc="-10">
                <a:latin typeface="Arial MT"/>
                <a:cs typeface="Arial MT"/>
              </a:rPr>
              <a:t>1,500-</a:t>
            </a:r>
            <a:r>
              <a:rPr dirty="0" sz="1500">
                <a:latin typeface="Arial MT"/>
                <a:cs typeface="Arial MT"/>
              </a:rPr>
              <a:t>question</a:t>
            </a:r>
            <a:r>
              <a:rPr dirty="0" sz="1500" spc="70">
                <a:latin typeface="Arial MT"/>
                <a:cs typeface="Arial MT"/>
              </a:rPr>
              <a:t>  </a:t>
            </a:r>
            <a:r>
              <a:rPr dirty="0" sz="1500">
                <a:latin typeface="Arial MT"/>
                <a:cs typeface="Arial MT"/>
              </a:rPr>
              <a:t>automated</a:t>
            </a:r>
            <a:r>
              <a:rPr dirty="0" sz="1500" spc="60">
                <a:latin typeface="Arial MT"/>
                <a:cs typeface="Arial MT"/>
              </a:rPr>
              <a:t>  </a:t>
            </a:r>
            <a:r>
              <a:rPr dirty="0" sz="1500">
                <a:latin typeface="Arial MT"/>
                <a:cs typeface="Arial MT"/>
              </a:rPr>
              <a:t>testing</a:t>
            </a:r>
            <a:r>
              <a:rPr dirty="0" sz="1500" spc="75">
                <a:latin typeface="Arial MT"/>
                <a:cs typeface="Arial MT"/>
              </a:rPr>
              <a:t>  </a:t>
            </a:r>
            <a:r>
              <a:rPr dirty="0" sz="1500" spc="-10">
                <a:latin typeface="Arial MT"/>
                <a:cs typeface="Arial MT"/>
              </a:rPr>
              <a:t>suite </a:t>
            </a:r>
            <a:r>
              <a:rPr dirty="0" sz="1500">
                <a:latin typeface="Arial MT"/>
                <a:cs typeface="Arial MT"/>
              </a:rPr>
              <a:t>designed</a:t>
            </a:r>
            <a:r>
              <a:rPr dirty="0" sz="1500" spc="-4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specifically</a:t>
            </a:r>
            <a:r>
              <a:rPr dirty="0" sz="1500" spc="-7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for</a:t>
            </a:r>
            <a:r>
              <a:rPr dirty="0" sz="1500" spc="-7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benchmarking</a:t>
            </a:r>
            <a:r>
              <a:rPr dirty="0" sz="1500" spc="-55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future</a:t>
            </a:r>
            <a:r>
              <a:rPr dirty="0" sz="1500" spc="-50">
                <a:latin typeface="Arial MT"/>
                <a:cs typeface="Arial MT"/>
              </a:rPr>
              <a:t> </a:t>
            </a:r>
            <a:r>
              <a:rPr dirty="0" sz="1500">
                <a:latin typeface="Arial MT"/>
                <a:cs typeface="Arial MT"/>
              </a:rPr>
              <a:t>RAG</a:t>
            </a:r>
            <a:r>
              <a:rPr dirty="0" sz="1500" spc="-65">
                <a:latin typeface="Arial MT"/>
                <a:cs typeface="Arial MT"/>
              </a:rPr>
              <a:t> </a:t>
            </a:r>
            <a:r>
              <a:rPr dirty="0" sz="1500" spc="-10">
                <a:latin typeface="Arial MT"/>
                <a:cs typeface="Arial MT"/>
              </a:rPr>
              <a:t>deployments.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4669" y="282955"/>
            <a:ext cx="1524635" cy="3924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40">
                <a:latin typeface="Trebuchet MS"/>
                <a:cs typeface="Trebuchet MS"/>
              </a:rPr>
              <a:t>Gantt</a:t>
            </a:r>
            <a:r>
              <a:rPr dirty="0" spc="-50">
                <a:latin typeface="Trebuchet MS"/>
                <a:cs typeface="Trebuchet MS"/>
              </a:rPr>
              <a:t> </a:t>
            </a:r>
            <a:r>
              <a:rPr dirty="0" spc="-100">
                <a:latin typeface="Trebuchet MS"/>
                <a:cs typeface="Trebuchet MS"/>
              </a:rPr>
              <a:t>Chart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575" y="1381125"/>
            <a:ext cx="10410825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9918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50"/>
              <a:t> </a:t>
            </a:r>
            <a:r>
              <a:rPr dirty="0"/>
              <a:t>Directions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5"/>
              <a:t> </a:t>
            </a:r>
            <a:r>
              <a:rPr dirty="0" spc="-10"/>
              <a:t>Conclusion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14604" indent="-8255">
              <a:lnSpc>
                <a:spcPct val="100000"/>
              </a:lnSpc>
              <a:spcBef>
                <a:spcPts val="100"/>
              </a:spcBef>
              <a:buSzPct val="93333"/>
              <a:buFont typeface="Arial MT"/>
              <a:buChar char="•"/>
              <a:tabLst>
                <a:tab pos="79375" algn="l"/>
              </a:tabLst>
            </a:pPr>
            <a:r>
              <a:rPr dirty="0" spc="-10" b="1">
                <a:latin typeface="Arial"/>
                <a:cs typeface="Arial"/>
              </a:rPr>
              <a:t>	</a:t>
            </a:r>
            <a:r>
              <a:rPr dirty="0" spc="-10" b="1">
                <a:latin typeface="Arial"/>
                <a:cs typeface="Arial"/>
              </a:rPr>
              <a:t>Real-</a:t>
            </a:r>
            <a:r>
              <a:rPr dirty="0" b="1">
                <a:latin typeface="Arial"/>
                <a:cs typeface="Arial"/>
              </a:rPr>
              <a:t>Time</a:t>
            </a:r>
            <a:r>
              <a:rPr dirty="0" spc="14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Automation:</a:t>
            </a:r>
            <a:r>
              <a:rPr dirty="0" spc="175" b="1">
                <a:latin typeface="Arial"/>
                <a:cs typeface="Arial"/>
              </a:rPr>
              <a:t> </a:t>
            </a:r>
            <a:r>
              <a:rPr dirty="0"/>
              <a:t>Replacing</a:t>
            </a:r>
            <a:r>
              <a:rPr dirty="0" spc="185"/>
              <a:t> </a:t>
            </a:r>
            <a:r>
              <a:rPr dirty="0"/>
              <a:t>the</a:t>
            </a:r>
            <a:r>
              <a:rPr dirty="0" spc="155"/>
              <a:t> </a:t>
            </a:r>
            <a:r>
              <a:rPr dirty="0"/>
              <a:t>static</a:t>
            </a:r>
            <a:r>
              <a:rPr dirty="0" spc="155"/>
              <a:t> </a:t>
            </a:r>
            <a:r>
              <a:rPr dirty="0"/>
              <a:t>CSV</a:t>
            </a:r>
            <a:r>
              <a:rPr dirty="0" spc="155"/>
              <a:t> </a:t>
            </a:r>
            <a:r>
              <a:rPr dirty="0"/>
              <a:t>file</a:t>
            </a:r>
            <a:r>
              <a:rPr dirty="0" spc="140"/>
              <a:t> </a:t>
            </a:r>
            <a:r>
              <a:rPr dirty="0"/>
              <a:t>with</a:t>
            </a:r>
            <a:r>
              <a:rPr dirty="0" spc="145"/>
              <a:t> </a:t>
            </a:r>
            <a:r>
              <a:rPr dirty="0"/>
              <a:t>scheduled</a:t>
            </a:r>
            <a:r>
              <a:rPr dirty="0" spc="200"/>
              <a:t> </a:t>
            </a:r>
            <a:r>
              <a:rPr dirty="0"/>
              <a:t>BeautifulSoup</a:t>
            </a:r>
            <a:r>
              <a:rPr dirty="0" spc="165"/>
              <a:t> </a:t>
            </a:r>
            <a:r>
              <a:rPr dirty="0" spc="-10"/>
              <a:t>web-</a:t>
            </a:r>
            <a:r>
              <a:rPr dirty="0"/>
              <a:t>scraping</a:t>
            </a:r>
            <a:r>
              <a:rPr dirty="0" spc="160"/>
              <a:t> </a:t>
            </a:r>
            <a:r>
              <a:rPr dirty="0"/>
              <a:t>scripts</a:t>
            </a:r>
            <a:r>
              <a:rPr dirty="0" spc="165"/>
              <a:t> </a:t>
            </a:r>
            <a:r>
              <a:rPr dirty="0"/>
              <a:t>to</a:t>
            </a:r>
            <a:r>
              <a:rPr dirty="0" spc="140"/>
              <a:t> </a:t>
            </a:r>
            <a:r>
              <a:rPr dirty="0"/>
              <a:t>actively</a:t>
            </a:r>
            <a:r>
              <a:rPr dirty="0" spc="155"/>
              <a:t> </a:t>
            </a:r>
            <a:r>
              <a:rPr dirty="0" spc="-10"/>
              <a:t>monitor </a:t>
            </a:r>
            <a:r>
              <a:rPr dirty="0"/>
              <a:t>university</a:t>
            </a:r>
            <a:r>
              <a:rPr dirty="0" spc="-80"/>
              <a:t> </a:t>
            </a:r>
            <a:r>
              <a:rPr dirty="0"/>
              <a:t>websites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update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60"/>
              <a:t> </a:t>
            </a:r>
            <a:r>
              <a:rPr dirty="0"/>
              <a:t>FAISS</a:t>
            </a:r>
            <a:r>
              <a:rPr dirty="0" spc="-15"/>
              <a:t> </a:t>
            </a:r>
            <a:r>
              <a:rPr dirty="0"/>
              <a:t>database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70"/>
              <a:t> </a:t>
            </a:r>
            <a:r>
              <a:rPr dirty="0" spc="-10"/>
              <a:t>real-time.</a:t>
            </a: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</a:p>
          <a:p>
            <a:pPr marL="12700" marR="5080" indent="-8255">
              <a:lnSpc>
                <a:spcPct val="100000"/>
              </a:lnSpc>
              <a:spcBef>
                <a:spcPts val="5"/>
              </a:spcBef>
              <a:buSzPct val="93333"/>
              <a:buFont typeface="Arial MT"/>
              <a:buChar char="•"/>
              <a:tabLst>
                <a:tab pos="79375" algn="l"/>
              </a:tabLst>
            </a:pPr>
            <a:r>
              <a:rPr dirty="0" b="1">
                <a:latin typeface="Arial"/>
                <a:cs typeface="Arial"/>
              </a:rPr>
              <a:t>	</a:t>
            </a:r>
            <a:r>
              <a:rPr dirty="0" b="1">
                <a:latin typeface="Arial"/>
                <a:cs typeface="Arial"/>
              </a:rPr>
              <a:t>Multimodal</a:t>
            </a:r>
            <a:r>
              <a:rPr dirty="0" spc="-3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Accessibility: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/>
              <a:t>Integrating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15"/>
              <a:t> </a:t>
            </a:r>
            <a:r>
              <a:rPr dirty="0" spc="-10"/>
              <a:t>voice-to-</a:t>
            </a:r>
            <a:r>
              <a:rPr dirty="0"/>
              <a:t>text</a:t>
            </a:r>
            <a:r>
              <a:rPr dirty="0" spc="-40"/>
              <a:t> </a:t>
            </a:r>
            <a:r>
              <a:rPr dirty="0"/>
              <a:t>layer</a:t>
            </a:r>
            <a:r>
              <a:rPr dirty="0" spc="-30"/>
              <a:t> </a:t>
            </a:r>
            <a:r>
              <a:rPr dirty="0"/>
              <a:t>(such</a:t>
            </a:r>
            <a:r>
              <a:rPr dirty="0" spc="-25"/>
              <a:t> </a:t>
            </a:r>
            <a:r>
              <a:rPr dirty="0"/>
              <a:t>as</a:t>
            </a:r>
            <a:r>
              <a:rPr dirty="0" spc="-5"/>
              <a:t> </a:t>
            </a:r>
            <a:r>
              <a:rPr dirty="0"/>
              <a:t>OpenAI</a:t>
            </a:r>
            <a:r>
              <a:rPr dirty="0" spc="5"/>
              <a:t> </a:t>
            </a:r>
            <a:r>
              <a:rPr dirty="0"/>
              <a:t>Whisper)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provide</a:t>
            </a:r>
            <a:r>
              <a:rPr dirty="0" spc="-45"/>
              <a:t> </a:t>
            </a:r>
            <a:r>
              <a:rPr dirty="0"/>
              <a:t>highly</a:t>
            </a:r>
            <a:r>
              <a:rPr dirty="0" spc="-55"/>
              <a:t> </a:t>
            </a:r>
            <a:r>
              <a:rPr dirty="0"/>
              <a:t>accessible</a:t>
            </a:r>
            <a:r>
              <a:rPr dirty="0" spc="-45"/>
              <a:t> </a:t>
            </a:r>
            <a:r>
              <a:rPr dirty="0"/>
              <a:t>counseling</a:t>
            </a:r>
            <a:r>
              <a:rPr dirty="0" spc="-20"/>
              <a:t> </a:t>
            </a:r>
            <a:r>
              <a:rPr dirty="0" spc="-25"/>
              <a:t>to </a:t>
            </a:r>
            <a:r>
              <a:rPr dirty="0"/>
              <a:t>rural</a:t>
            </a:r>
            <a:r>
              <a:rPr dirty="0" spc="-55"/>
              <a:t> </a:t>
            </a:r>
            <a:r>
              <a:rPr dirty="0"/>
              <a:t>students</a:t>
            </a:r>
            <a:r>
              <a:rPr dirty="0" spc="-50"/>
              <a:t> </a:t>
            </a:r>
            <a:r>
              <a:rPr dirty="0"/>
              <a:t>who</a:t>
            </a:r>
            <a:r>
              <a:rPr dirty="0" spc="-55"/>
              <a:t> </a:t>
            </a:r>
            <a:r>
              <a:rPr dirty="0"/>
              <a:t>may</a:t>
            </a:r>
            <a:r>
              <a:rPr dirty="0" spc="-40"/>
              <a:t> </a:t>
            </a:r>
            <a:r>
              <a:rPr dirty="0"/>
              <a:t>not</a:t>
            </a:r>
            <a:r>
              <a:rPr dirty="0" spc="-15"/>
              <a:t> </a:t>
            </a:r>
            <a:r>
              <a:rPr dirty="0"/>
              <a:t>be</a:t>
            </a:r>
            <a:r>
              <a:rPr dirty="0" spc="-15"/>
              <a:t> </a:t>
            </a:r>
            <a:r>
              <a:rPr dirty="0"/>
              <a:t>comfortable</a:t>
            </a:r>
            <a:r>
              <a:rPr dirty="0" spc="-60"/>
              <a:t> </a:t>
            </a:r>
            <a:r>
              <a:rPr dirty="0"/>
              <a:t>typing</a:t>
            </a:r>
            <a:r>
              <a:rPr dirty="0" spc="-10"/>
              <a:t> </a:t>
            </a:r>
            <a:r>
              <a:rPr dirty="0"/>
              <a:t>complex</a:t>
            </a:r>
            <a:r>
              <a:rPr dirty="0" spc="-45"/>
              <a:t> </a:t>
            </a:r>
            <a:r>
              <a:rPr dirty="0" spc="-10"/>
              <a:t>queries.</a:t>
            </a: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</a:p>
          <a:p>
            <a:pPr marL="12700" marR="11430" indent="-8255">
              <a:lnSpc>
                <a:spcPct val="100000"/>
              </a:lnSpc>
              <a:buSzPct val="93333"/>
              <a:buFont typeface="Arial MT"/>
              <a:buChar char="•"/>
              <a:tabLst>
                <a:tab pos="79375" algn="l"/>
              </a:tabLst>
            </a:pPr>
            <a:r>
              <a:rPr dirty="0" b="1">
                <a:latin typeface="Arial"/>
                <a:cs typeface="Arial"/>
              </a:rPr>
              <a:t>	</a:t>
            </a:r>
            <a:r>
              <a:rPr dirty="0" b="1">
                <a:latin typeface="Arial"/>
                <a:cs typeface="Arial"/>
              </a:rPr>
              <a:t>National</a:t>
            </a:r>
            <a:r>
              <a:rPr dirty="0" spc="36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Scaling:</a:t>
            </a:r>
            <a:r>
              <a:rPr dirty="0" spc="345" b="1">
                <a:latin typeface="Arial"/>
                <a:cs typeface="Arial"/>
              </a:rPr>
              <a:t> </a:t>
            </a:r>
            <a:r>
              <a:rPr dirty="0"/>
              <a:t>Expanding</a:t>
            </a:r>
            <a:r>
              <a:rPr dirty="0" spc="310"/>
              <a:t> </a:t>
            </a:r>
            <a:r>
              <a:rPr dirty="0"/>
              <a:t>the</a:t>
            </a:r>
            <a:r>
              <a:rPr dirty="0" spc="325"/>
              <a:t> </a:t>
            </a:r>
            <a:r>
              <a:rPr dirty="0"/>
              <a:t>dataset</a:t>
            </a:r>
            <a:r>
              <a:rPr dirty="0" spc="340"/>
              <a:t> </a:t>
            </a:r>
            <a:r>
              <a:rPr dirty="0"/>
              <a:t>from</a:t>
            </a:r>
            <a:r>
              <a:rPr dirty="0" spc="370"/>
              <a:t> </a:t>
            </a:r>
            <a:r>
              <a:rPr dirty="0"/>
              <a:t>300</a:t>
            </a:r>
            <a:r>
              <a:rPr dirty="0" spc="370"/>
              <a:t> </a:t>
            </a:r>
            <a:r>
              <a:rPr dirty="0"/>
              <a:t>universities</a:t>
            </a:r>
            <a:r>
              <a:rPr dirty="0" spc="375"/>
              <a:t> </a:t>
            </a:r>
            <a:r>
              <a:rPr dirty="0"/>
              <a:t>to</a:t>
            </a:r>
            <a:r>
              <a:rPr dirty="0" spc="310"/>
              <a:t> </a:t>
            </a:r>
            <a:r>
              <a:rPr dirty="0"/>
              <a:t>encompass</a:t>
            </a:r>
            <a:r>
              <a:rPr dirty="0" spc="310"/>
              <a:t> </a:t>
            </a:r>
            <a:r>
              <a:rPr dirty="0"/>
              <a:t>all</a:t>
            </a:r>
            <a:r>
              <a:rPr dirty="0" spc="325"/>
              <a:t> </a:t>
            </a:r>
            <a:r>
              <a:rPr dirty="0" spc="-10"/>
              <a:t>AICTE-</a:t>
            </a:r>
            <a:r>
              <a:rPr dirty="0"/>
              <a:t>approved</a:t>
            </a:r>
            <a:r>
              <a:rPr dirty="0" spc="315"/>
              <a:t> </a:t>
            </a:r>
            <a:r>
              <a:rPr dirty="0"/>
              <a:t>institutions</a:t>
            </a:r>
            <a:r>
              <a:rPr dirty="0" spc="325"/>
              <a:t> </a:t>
            </a:r>
            <a:r>
              <a:rPr dirty="0"/>
              <a:t>across</a:t>
            </a:r>
            <a:r>
              <a:rPr dirty="0" spc="345"/>
              <a:t> </a:t>
            </a:r>
            <a:r>
              <a:rPr dirty="0" spc="-25"/>
              <a:t>the </a:t>
            </a:r>
            <a:r>
              <a:rPr dirty="0" spc="-10"/>
              <a:t>country.</a:t>
            </a: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</a:p>
          <a:p>
            <a:pPr marL="12700" marR="15240" indent="-8255">
              <a:lnSpc>
                <a:spcPct val="100000"/>
              </a:lnSpc>
              <a:spcBef>
                <a:spcPts val="5"/>
              </a:spcBef>
              <a:buSzPct val="93333"/>
              <a:buFont typeface="Arial MT"/>
              <a:buChar char="•"/>
              <a:tabLst>
                <a:tab pos="79375" algn="l"/>
              </a:tabLst>
            </a:pPr>
            <a:r>
              <a:rPr dirty="0" b="1">
                <a:latin typeface="Arial"/>
                <a:cs typeface="Arial"/>
              </a:rPr>
              <a:t>	</a:t>
            </a:r>
            <a:r>
              <a:rPr dirty="0" b="1">
                <a:latin typeface="Arial"/>
                <a:cs typeface="Arial"/>
              </a:rPr>
              <a:t>Conclusion:</a:t>
            </a:r>
            <a:r>
              <a:rPr dirty="0" spc="130" b="1">
                <a:latin typeface="Arial"/>
                <a:cs typeface="Arial"/>
              </a:rPr>
              <a:t> </a:t>
            </a:r>
            <a:r>
              <a:rPr dirty="0"/>
              <a:t>By</a:t>
            </a:r>
            <a:r>
              <a:rPr dirty="0" spc="150"/>
              <a:t> </a:t>
            </a:r>
            <a:r>
              <a:rPr dirty="0"/>
              <a:t>merging</a:t>
            </a:r>
            <a:r>
              <a:rPr dirty="0" spc="160"/>
              <a:t> </a:t>
            </a:r>
            <a:r>
              <a:rPr dirty="0"/>
              <a:t>the</a:t>
            </a:r>
            <a:r>
              <a:rPr dirty="0" spc="110"/>
              <a:t> </a:t>
            </a:r>
            <a:r>
              <a:rPr dirty="0"/>
              <a:t>conversational</a:t>
            </a:r>
            <a:r>
              <a:rPr dirty="0" spc="135"/>
              <a:t> </a:t>
            </a:r>
            <a:r>
              <a:rPr dirty="0"/>
              <a:t>power</a:t>
            </a:r>
            <a:r>
              <a:rPr dirty="0" spc="130"/>
              <a:t> </a:t>
            </a:r>
            <a:r>
              <a:rPr dirty="0"/>
              <a:t>of</a:t>
            </a:r>
            <a:r>
              <a:rPr dirty="0" spc="135"/>
              <a:t> </a:t>
            </a:r>
            <a:r>
              <a:rPr dirty="0"/>
              <a:t>modern</a:t>
            </a:r>
            <a:r>
              <a:rPr dirty="0" spc="130"/>
              <a:t> </a:t>
            </a:r>
            <a:r>
              <a:rPr dirty="0"/>
              <a:t>LLMs</a:t>
            </a:r>
            <a:r>
              <a:rPr dirty="0" spc="130"/>
              <a:t> </a:t>
            </a:r>
            <a:r>
              <a:rPr dirty="0"/>
              <a:t>with</a:t>
            </a:r>
            <a:r>
              <a:rPr dirty="0" spc="100"/>
              <a:t> </a:t>
            </a:r>
            <a:r>
              <a:rPr dirty="0"/>
              <a:t>the</a:t>
            </a:r>
            <a:r>
              <a:rPr dirty="0" spc="110"/>
              <a:t> </a:t>
            </a:r>
            <a:r>
              <a:rPr dirty="0"/>
              <a:t>strict</a:t>
            </a:r>
            <a:r>
              <a:rPr dirty="0" spc="100"/>
              <a:t> </a:t>
            </a:r>
            <a:r>
              <a:rPr dirty="0"/>
              <a:t>factual</a:t>
            </a:r>
            <a:r>
              <a:rPr dirty="0" spc="105"/>
              <a:t> </a:t>
            </a:r>
            <a:r>
              <a:rPr dirty="0"/>
              <a:t>rigidity</a:t>
            </a:r>
            <a:r>
              <a:rPr dirty="0" spc="135"/>
              <a:t> </a:t>
            </a:r>
            <a:r>
              <a:rPr dirty="0"/>
              <a:t>of</a:t>
            </a:r>
            <a:r>
              <a:rPr dirty="0" spc="140"/>
              <a:t> </a:t>
            </a:r>
            <a:r>
              <a:rPr dirty="0"/>
              <a:t>relational</a:t>
            </a:r>
            <a:r>
              <a:rPr dirty="0" spc="140"/>
              <a:t> </a:t>
            </a:r>
            <a:r>
              <a:rPr dirty="0"/>
              <a:t>databases,</a:t>
            </a:r>
            <a:r>
              <a:rPr dirty="0" spc="80"/>
              <a:t> </a:t>
            </a:r>
            <a:r>
              <a:rPr dirty="0" spc="-20"/>
              <a:t>this </a:t>
            </a:r>
            <a:r>
              <a:rPr dirty="0"/>
              <a:t>thesis</a:t>
            </a:r>
            <a:r>
              <a:rPr dirty="0" spc="-25"/>
              <a:t> </a:t>
            </a:r>
            <a:r>
              <a:rPr dirty="0"/>
              <a:t>lays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technical</a:t>
            </a:r>
            <a:r>
              <a:rPr dirty="0" spc="-55"/>
              <a:t> </a:t>
            </a:r>
            <a:r>
              <a:rPr dirty="0"/>
              <a:t>foundation</a:t>
            </a:r>
            <a:r>
              <a:rPr dirty="0" spc="-85"/>
              <a:t> </a:t>
            </a:r>
            <a:r>
              <a:rPr dirty="0"/>
              <a:t>to</a:t>
            </a:r>
            <a:r>
              <a:rPr dirty="0" spc="-65"/>
              <a:t> </a:t>
            </a:r>
            <a:r>
              <a:rPr dirty="0"/>
              <a:t>democratize</a:t>
            </a:r>
            <a:r>
              <a:rPr dirty="0" spc="-40"/>
              <a:t> </a:t>
            </a:r>
            <a:r>
              <a:rPr dirty="0"/>
              <a:t>safe,</a:t>
            </a:r>
            <a:r>
              <a:rPr dirty="0" spc="-50"/>
              <a:t> </a:t>
            </a:r>
            <a:r>
              <a:rPr dirty="0" spc="-10"/>
              <a:t>hyper-</a:t>
            </a:r>
            <a:r>
              <a:rPr dirty="0"/>
              <a:t>accurate</a:t>
            </a:r>
            <a:r>
              <a:rPr dirty="0" spc="-65"/>
              <a:t> </a:t>
            </a:r>
            <a:r>
              <a:rPr dirty="0"/>
              <a:t>educational</a:t>
            </a:r>
            <a:r>
              <a:rPr dirty="0" spc="-35"/>
              <a:t> </a:t>
            </a:r>
            <a:r>
              <a:rPr dirty="0"/>
              <a:t>counseling</a:t>
            </a:r>
            <a:r>
              <a:rPr dirty="0" spc="-40"/>
              <a:t> </a:t>
            </a:r>
            <a:r>
              <a:rPr dirty="0"/>
              <a:t>across</a:t>
            </a:r>
            <a:r>
              <a:rPr dirty="0" spc="-35"/>
              <a:t> </a:t>
            </a:r>
            <a:r>
              <a:rPr dirty="0" spc="-10"/>
              <a:t>India.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19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410580" y="3031489"/>
            <a:ext cx="1381760" cy="758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800" spc="-25" b="1">
                <a:latin typeface="Arial"/>
                <a:cs typeface="Arial"/>
              </a:rPr>
              <a:t>Q&amp;A</a:t>
            </a:r>
            <a:endParaRPr sz="4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21562" y="3128316"/>
            <a:ext cx="468923" cy="5649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3160" y="1767650"/>
            <a:ext cx="584631" cy="44950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98678" y="2858214"/>
            <a:ext cx="4176395" cy="100520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642870" algn="l"/>
              </a:tabLst>
            </a:pPr>
            <a:r>
              <a:rPr dirty="0" sz="6400" spc="-1340" b="0">
                <a:solidFill>
                  <a:srgbClr val="000000"/>
                </a:solidFill>
                <a:latin typeface="Arial Black"/>
                <a:cs typeface="Arial Black"/>
              </a:rPr>
              <a:t>THAN</a:t>
            </a:r>
            <a:r>
              <a:rPr dirty="0" sz="6400" b="0">
                <a:solidFill>
                  <a:srgbClr val="000000"/>
                </a:solidFill>
                <a:latin typeface="Arial Black"/>
                <a:cs typeface="Arial Black"/>
              </a:rPr>
              <a:t>	</a:t>
            </a:r>
            <a:r>
              <a:rPr dirty="0" sz="6400" spc="-1280" b="0">
                <a:solidFill>
                  <a:srgbClr val="000000"/>
                </a:solidFill>
                <a:latin typeface="Arial Black"/>
                <a:cs typeface="Arial Black"/>
              </a:rPr>
              <a:t>YØU</a:t>
            </a:r>
            <a:endParaRPr sz="6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2026-08-21T06:45:12Z</dcterms:created>
  <dcterms:modified xsi:type="dcterms:W3CDTF">2026-08-21T06:45:12Z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2026-08-20T00:00:00Z</vt:filetime>
  </property>
  <property fmtid="{D5CDD505-2E9C-101B-9397-08002B2CF9AE}" pid="4" name="LastSaved">
    <vt:filetime>2026-08-21T00:00:00Z</vt:filetime>
  </property>
  <property fmtid="{D5CDD505-2E9C-101B-9397-08002B2CF9AE}" pid="5" name="MSIP_Label_defa4170-0d19-0005-0004-bc88714345d2_ActionId">
    <vt:lpwstr>2a20089b-7995-43de-aaf1-a4eb65220026</vt:lpwstr>
  </property>
  <property fmtid="{D5CDD505-2E9C-101B-9397-08002B2CF9AE}" pid="6" name="MSIP_Label_defa4170-0d19-0005-0004-bc88714345d2_ContentBits">
    <vt:lpwstr>0</vt:lpwstr>
  </property>
  <property fmtid="{D5CDD505-2E9C-101B-9397-08002B2CF9AE}" pid="7" name="MSIP_Label_defa4170-0d19-0005-0004-bc88714345d2_Enabled">
    <vt:lpwstr>true</vt:lpwstr>
  </property>
  <property fmtid="{D5CDD505-2E9C-101B-9397-08002B2CF9AE}" pid="8" name="MSIP_Label_defa4170-0d19-0005-0004-bc88714345d2_Method">
    <vt:lpwstr>Standard</vt:lpwstr>
  </property>
  <property fmtid="{D5CDD505-2E9C-101B-9397-08002B2CF9AE}" pid="9" name="MSIP_Label_defa4170-0d19-0005-0004-bc88714345d2_Name">
    <vt:lpwstr>defa4170-0d19-0005-0004-bc88714345d2</vt:lpwstr>
  </property>
  <property fmtid="{D5CDD505-2E9C-101B-9397-08002B2CF9AE}" pid="10" name="MSIP_Label_defa4170-0d19-0005-0004-bc88714345d2_SetDate">
    <vt:lpwstr>2024-01-10T05:57:01Z</vt:lpwstr>
  </property>
  <property fmtid="{D5CDD505-2E9C-101B-9397-08002B2CF9AE}" pid="11" name="MSIP_Label_defa4170-0d19-0005-0004-bc88714345d2_SiteId">
    <vt:lpwstr>bdeac77a-6f2d-4eed-8d0b-c87a56de673f</vt:lpwstr>
  </property>
</Properties>
</file>